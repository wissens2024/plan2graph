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한국형 소버린 아파트 평면도 생성 AI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C7D2FE"/>
                </a:solidFill>
                <a:latin typeface="맑은 고딕"/>
              </a:rPr>
              <a:t>법규-인식 · 완전도면(문·창·기구·치수) · 한국 데이터 주권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CA3AF"/>
                </a:solidFill>
                <a:latin typeface="맑은 고딕"/>
              </a:rPr>
              <a:t>논문 중간 발표 — 데이터셋 구축 · 파이프라인 · AI 모델 · 성능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plan2graph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연구 배경 ·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937"/>
                </a:solidFill>
                <a:latin typeface="맑은 고딕"/>
              </a:rPr>
              <a:t>건축가가 실제로 쓸 수 있는 “완전한” 한국 아파트 평면도를 생성하는 AI.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기존 SOTA(RPLAN 류)는 벡터 방·벽 레이아웃까지만 — 문·창·기구·치수·법규는 다루지 않음.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91440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산출물 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46E5"/>
                </a:solidFill>
                <a:latin typeface="맑은 고딕"/>
              </a:rPr>
              <a:t>생성형 도면(이미지)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4320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743200"/>
            <a:ext cx="9144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8529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산출물 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3EB"/>
                </a:solidFill>
                <a:latin typeface="맑은 고딕"/>
              </a:rPr>
              <a:t>AutoCAD DXF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74320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5292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546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generate→verify→correct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맑은 고딕"/>
              </a:rPr>
              <a:t>핵심 차별성(Novelty) — 논문 기여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 ① 법규-인식 생성: 한국 건축법규(채광 §17①·환기·피난·면적)를 생성에 강제 (필드 최초 시도)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 ② 완전 도면: 레이아웃을 넘어 문·창·기구·치수까지 채운 작도 가능 도면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937"/>
                </a:solidFill>
                <a:latin typeface="맑은 고딕"/>
              </a:rPr>
              <a:t>•  ③ 한국 소버린: 한국 아파트 데이터로 학습한 자체 소유 엔진(외부 모델 단순 호출 아님)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전체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데이터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3개 출처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55448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2576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통일 그래프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(g-0.3)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155448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위상 모델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(방 연결)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5448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기하 모델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T /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155448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neuro-symbolic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보정·법규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155448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55448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렌더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이미지+DXF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43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T·G = “같은 파이프라인, 기하모델만 다른” A/B 비교 (ADR-0007)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291840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T-라인 (baseline)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G-라인 (소버린)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기하모델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약한 박스 (“위상+약한기하=못그림” 증명)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강한 diffusion 엔진 (자체)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자동 추출 그래프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+ 사람(알바) SVG 보정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비교 기준선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본 제품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비교 지표: FID · 법규준수율 · 완성도 — 기하모델 효과를 격리해 정량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핵심 숫자 한눈에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91440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받은 원본 (3출처)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129,007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642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사용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94,320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554480"/>
            <a:ext cx="91440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642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온전(AI-Hub APT)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46E5"/>
                </a:solidFill>
                <a:latin typeface="맑은 고딕"/>
              </a:rPr>
              <a:t>24,706 · 64.7%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260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926080"/>
            <a:ext cx="91440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35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엔진 역할 / 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375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563EB"/>
                </a:solidFill>
                <a:latin typeface="맑은 고딕"/>
              </a:rPr>
              <a:t>13 / 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9260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292608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035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DiffPlanner RPLAN FID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375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1.23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926080"/>
            <a:ext cx="361188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926080"/>
            <a:ext cx="91440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035808"/>
            <a:ext cx="3337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통일 그래프 (G)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40,495 세대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480560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F2937"/>
                </a:solidFill>
                <a:latin typeface="맑은 고딕"/>
              </a:rPr>
              <a:t>데이터 129,007 → 통일 그래프 40,495세대 → 자체 엔진(13역할/18방) → 완전 도면+DXF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박스 회귀 사망(정답 99% 겹침) → diffusion 엔진 전환 · neuro-symbolic으로 완전성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데이터셋 구축 ① — 출처 ·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3개 공개 데이터셋을 하나의 통일 그래프 규격으로 흡수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2024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40233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받은 원본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 (한국)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43,219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한국 아파트·단독·연립 평면도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소버린 파인튜닝 (핵심)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RPLAN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80,788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대규모 벡터 평면도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글로벌 사전학습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CubiCasa5k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5,000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실측 벡터 평면도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글로벌 사전학습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129,007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— 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— 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4805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480560"/>
            <a:ext cx="91440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902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받은 원본 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129,007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4805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48056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5902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✅ 사용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8920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94,320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4805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4480560"/>
            <a:ext cx="9144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5902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🛠 보정·복구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920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97706"/>
                </a:solidFill>
                <a:latin typeface="맑은 고딕"/>
              </a:rPr>
              <a:t>11,793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제외 22,894 (중복 사본·비-평면도) — 처분(사용/보정필요/제외) 상호배타, 합 = 다운로드 원본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데이터셋 구축 ② — 회계(처분)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검수 본질 = 숫자 × 카테고리(사용/보정필요/제외) × 사유 — GUI·코드·문서 단일 소스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✅ 사용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🛠 보정필요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🚫 제외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합(=다운로드)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10,921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9,412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22,886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43,219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RPLAN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80,371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417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80,788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CubiCasa5k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3,028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1,964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5,000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94,320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11,793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22,894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129,007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663440"/>
            <a:ext cx="11155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핵심 원칙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“보정필요” = 버리는 게 아니라 살릴 수 있는 데이터 (자동 재변환 + 사람 보정으로 → 사용으로 승급)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AI-Hub는 도면 1장 = 여러 세대 → 도면수 ≠ 세대수 (세대 = 실제 추출된 그래프 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데이터셋 구축 ③ — AI-Hub 처리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원본 PNG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(라벨)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50876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2576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V2V/YOLO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150876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SVG 변환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(완전기하)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50876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사람 보정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(알바)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150876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build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통일그래프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1508760"/>
            <a:ext cx="29260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508760"/>
            <a:ext cx="1572768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검증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(위상·역할)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43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46E5"/>
                </a:solidFill>
                <a:latin typeface="맑은 고딕"/>
              </a:rPr>
              <a:t>provenance(추출 출처)로 데이터 특성·신뢰도 구분 — 선언적 필터로 구성 분리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291840"/>
          <a:ext cx="11155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6692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provenance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처분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dual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방(SPA)+구조(STR) 둘 다 라벨 — 직접 변환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✅ 사용 (최고품질)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spa_only / str_only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한쪽만 → V2V(YOLO)로 나머지 복구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✅ 사용 (복구)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objocr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OBJ/OCR만 (공간 라벨 없음) — 이미지 직접 검출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🛠 보정필요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V2V(vector→vector) YOLO 검출: SPA mAP 0.90+ · 게이트 통과율 기준 평가 (mAP 아님)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G-라인 통일 그래프 빌드 결과: 18,503 도면 / 40,495 세대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데이터셋 구축 ④ — 품질 게이트(온전/보정필요)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“온전한 데이터만 학습” — 구성 기반 자동 분류기(좌표 불필요, 검수·학습 단일 소스)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53949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214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온전 (사용) — AI-Hub APT 38,203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24,706  (64.7%)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53949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11680"/>
            <a:ext cx="9144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보정필요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97706"/>
                </a:solidFill>
                <a:latin typeface="맑은 고딕"/>
              </a:rPr>
              <a:t>13,485  (35.3%)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보정필요 판정 규칙 · 사유 분포 (실측)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현관 ≠ 1 (다세대 병합/누락) — 5,142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발코니 과다(&gt;4, 라벨 폭주) — 4,904   ·   거실 ≠ 1 — 4,521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침실 &lt; 화장실(면적 모순) — 3,060   ·   거실 오라벨 — 634   ·   기타 과다 — 527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</a:rPr>
              <a:t>→ 온전 데이터 방 수: 중앙값 14 · p95 17 → 엔진 방 수용량 18로 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데이터셋 구축 ⑤ — 구성(variant)이 곧 실험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같은 엔진을 다른 데이터 구성으로 학습 → 다른 모델 → 도면 품질 차이 = 비교의 본체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2860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라인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세대수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보정 종류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 (T)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dual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7,465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자동(재변환) — T·G 공유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 (T)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dual + 보정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23,679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자동(재변환)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 (G)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dual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8,700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자동 + 알바(사람 SVG)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AI-Hub (G)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dual + 보정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27,683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자동 + 알바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글로벌(사전학습)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RPLAN / CubiCasa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56,053 / —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보정 2종: 자동(neuro-symbolic 재변환, 보정필요→사용)은 T·G 공유 · 알바(사람 SVG)는 G에만 추가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비교 매트릭스 = 구성 × 기하모델(T/G) × 사전학습(있음/없음)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 모델 ① — 박스 회귀(폐기): 측정으로 사망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맑은 고딕"/>
              </a:rPr>
              <a:t>첫 시도: 위상 그래프 → 방별 박스 좌표 회귀 (Transformer)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91440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정답 박스 겹침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C2626"/>
                </a:solidFill>
                <a:latin typeface="맑은 고딕"/>
              </a:rPr>
              <a:t>99%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0312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91440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데이터 4.6배·겹침손실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146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C2626"/>
                </a:solidFill>
                <a:latin typeface="맑은 고딕"/>
              </a:rPr>
              <a:t>효과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10312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91440" cy="1051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결론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C2626"/>
                </a:solidFill>
                <a:latin typeface="맑은 고딕"/>
              </a:rPr>
              <a:t>표현 한계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11155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왜 죽었나 (실측 근거)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정답(ground-truth) 박스부터 99% 겹침 — 모델이 아니라 “박스 표현” 자체의 한계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데이터 4.6배 증량·겹침 억제 손실 추가에도 동일하게 박스 붕괴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배치 실현율 평균 62%(방 많을수록 33%) → 문 증발·화장실 고립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</a:rPr>
              <a:t>→ 교훈: 위상/모델 문제가 아니라 “기하 실현”이 병목 — 생성형 기하(diffusion)로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 모델 ② — 소버린 엔진(SOTA 부품 조립 + 한국형 확장)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단일 생성 엔진 — SOTA의 “기법(부품)”만 인용·조립 + 우리 novelty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20240"/>
          <a:ext cx="111556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빌린 부품 (인용 base)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DiffPlanner (2025)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벡터 직접 diffusion 골격 · 경계조건 (코드 보유·검증)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GSDiff (AAAI'25)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정렬 손실 · 자기지도(연결 포인트)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HouseDiffusion (CVPR'23)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이산+연속 디노이즈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FMLM (2026)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유효성 제약(markup)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20624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한국형 확장 (구현 완료·검증)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3-stage(node→adjacency→partitioning) 아키텍처: num_category 6→13(한국 역할) · max_rooms 8→18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RPLAN 사전학습 → 한국 파인튜닝 (전이학습) · 학습 → 샘플 → 도면+DXF 파이프라인 E2E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 모델 ③ — neuro-symbolic 완성 (SOTA가 안 하는 부분)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엔진은 방 레이아웃까지 — 문·창·치수·기구·법규는 “있는 데이터로 의미 추론”해 채움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10312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46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채울 공백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추론 방법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축척(scale)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표준 여닫이문 폭(800mm) 앵커 → mm/px (절대값은 사람 길이입력 보조)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문 방향 / 위치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방 인접 관계에서 유도 (맞닿은 경계 중점)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창문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거주방의 외곽 접한 벽에 배치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기구(침대·소파·싱크…)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역할별 규칙 카탈로그 (벽에 붙여·문 반대쪽)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법규 준수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rules_legal: 채광 §17① · 환기 · 피난 · 면적 (국가법령 API)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2120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생성 → 검증(rules_legal) → 보정 → 재생성 루프 — 거친 출력은 학습 개선 신호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완전 도면 예시 — neuro-symbolic으로 채운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13</a:t>
            </a:r>
          </a:p>
        </p:txBody>
      </p:sp>
      <p:pic>
        <p:nvPicPr>
          <p:cNvPr id="9" name="Picture 8" descr="complete_dra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6961866" cy="5166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63040"/>
            <a:ext cx="4114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맑은 고딕"/>
              </a:rPr>
              <a:t>이 도면 1장에 담긴 것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방 + 면적(㎡) · 외벽/내벽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가구: 침대·소파·TV·식탁·싱크/레인지·냉장고·변기·세면·샤워·신발장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창(파랑) · 문(빨강) · 치수 12,653 × 9,513 mm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척도: 여닫이문 폭 800mm 앵커로 추론 (11.9 mm/px)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059669"/>
                </a:solidFill>
                <a:latin typeface="맑은 고딕"/>
              </a:rPr>
              <a:t>•  같은 도면 → AutoCAD DXF 동시 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349240"/>
            <a:ext cx="4114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SOTA는 방·벽 레이아웃까지 — 우리는 가구·치수·DXF까지 채운 “완전 도면”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성능 ·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DiffPlanner RPLAN FID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1.23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898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clean-fid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1.34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8016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80160"/>
            <a:ext cx="91440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38988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평가셋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12,002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560320"/>
            <a:ext cx="11155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측정으로 확정된 사실 (흔들지 않는 베이스라인)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DiffPlanner 베이스라인 재현·검증: RPLAN FID 1.23(pytorch-fid)/1.34(clean-fid), 12,002 test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균형 벤치마크(주거형태 매크로평균): 신경망 0.188 &gt; 규칙기반 0.205 — “규칙기반 최강”은 APT 편중 착시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V2V 확장은 생성 학습엔 역효과: adj_L1 0.074→0.104 · 법규 0.94→0.37 (수량 ≠ 품질)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SOTA 4편 전부 벡터 방·벽 레이아웃까지 — 창·가구·치수는 아무도 안 함(최신 FMLM 포함)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</a:rPr>
              <a:t>평가 축 = FID(품질) + 법규준수율(SOTA≈0) + 완성도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시스템 · 도구 (재현 가능한 프로그램)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맑은 고딕"/>
              </a:rPr>
              <a:t>결과물 = “내가 돌린 숫자”가 아니라 “비교 가능한 프로그램” (단일 소스 · A/B 한 화면)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01168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46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구성요소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25400" marB="25400" marL="76200" marR="76200" anchor="ctr"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Streamlit 대시보드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검수·회계·데이터구성·학습/재학습 조작·도면생성·법규 DB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도면 생성 화면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사전학습 × 파인튜닝(데이터 구성+세대수) → 학습 → 샘플 → 이미지+DXF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웹 보정 에디터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문 방향 클릭·벽 드래그 즉시반영 (Streamlit 한계 보완)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cadrender 공용 코어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</a:rPr>
                        <a:t>T·G 공용 렌더 → 이미지(matplotlib) + DXF(ezdxf) + 자기교정</a:t>
                      </a:r>
                    </a:p>
                  </a:txBody>
                  <a:tcPr marT="25400" marB="25400" marL="76200" marR="76200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66344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인프라: 한국형 엔진 13/18 아키텍처 패치·검증 · 통일 그래프 회계 영속 캐시(27s→0.05s)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•  하이브리드 프론트: 분석·비교 = Streamlit · 편집(클릭·드래그) = 웹 SVG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현재 상태 — 학습 진행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3560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엔진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✅ 완료·검증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3560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샘플→렌더(이미지+DXF)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373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59669"/>
                </a:solidFill>
                <a:latin typeface="맑은 고딕"/>
              </a:rPr>
              <a:t>✅ E2E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25880"/>
            <a:ext cx="3566160" cy="10515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9144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3560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맑은 고딕"/>
              </a:rPr>
              <a:t>엔진 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D97706"/>
                </a:solidFill>
                <a:latin typeface="맑은 고딕"/>
              </a:rPr>
              <a:t>🔄 진행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51760"/>
            <a:ext cx="11155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4F46E5"/>
                </a:solidFill>
                <a:latin typeface="맑은 고딕"/>
              </a:rPr>
              <a:t>진척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품질 게이트·통일 그래프·엔진 데이터 변환(온전만·13/18)·아키텍처 — 완료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3-stage 학습 게이트 통과(한국 데이터, loss 수렴·무오류) · 샘플→렌더 파이프라인 완성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현재: RPLAN 사전학습 + 한국 파인튜닝 학습 진행(다중 단계) · 짧은 ARM-B 런으로 첫 도면 선행 확보 중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렌더 검증 예시(정답 그래프 기준): 방·문·창·기구·치수·DXF 전부 생성 — 파이프라인 작동 확인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46E5"/>
                </a:solidFill>
                <a:latin typeface="맑은 고딕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2937"/>
                </a:solidFill>
                <a:latin typeface="맑은 고딕"/>
              </a:rPr>
              <a:t>향후 계획 · 논문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11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맑은 고딕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5778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4F46E5"/>
                </a:solidFill>
                <a:latin typeface="맑은 고딕"/>
              </a:rPr>
              <a:t>로드맵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학습 완료 → 동결 test 샘플링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T ∥ G · 데이터구성 · 사전학습 비교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FID · 법규준수율 · 완성도 정량 평가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알바 보정 → 더 좋은 그래프 → 재학습 (반복 루프)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2937"/>
                </a:solidFill>
                <a:latin typeface="맑은 고딕"/>
              </a:rPr>
              <a:t>성공 기준 = FID 동급 AND 법규·완전 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402336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  <a:latin typeface="맑은 고딕"/>
              </a:rPr>
              <a:t>목표 논문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A. 한국 아파트 데이터셋·벤치마크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B. 완전 도면 생성(문·창·기구·치수) 방법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C. 법규-인식 생성 (필드 최초)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맑은 고딕"/>
              </a:rPr>
              <a:t>•  D. 자체 소버린 엔진 (SOTA 부품+novelty)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4F46E5"/>
                </a:solidFill>
                <a:latin typeface="맑은 고딕"/>
              </a:rPr>
              <a:t>요약</a:t>
            </a:r>
          </a:p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</a:rPr>
              <a:t>한국 데이터 129,007 → 통일 그래프 → 자체 소버린 엔진(13/18) → 완전 도면+DXF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C7D2FE"/>
                </a:solidFill>
                <a:latin typeface="맑은 고딕"/>
              </a:rPr>
              <a:t>박스 회귀 사망 → diffusion 엔진 전환 · neuro-symbolic으로 SOTA가 안 하는 완전성 확보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9CA3AF"/>
                </a:solidFill>
                <a:latin typeface="맑은 고딕"/>
              </a:rPr>
              <a:t>차별성 = 법규-인식 · 완전 도면 · 한국 소버린 — 비교 가능한 프로그램으로 검증 진행 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