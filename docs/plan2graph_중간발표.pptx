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411480"/>
            <a:ext cx="11368735" cy="6035040"/>
          </a:xfrm>
          <a:prstGeom prst="rect">
            <a:avLst/>
          </a:prstGeom>
          <a:noFill/>
          <a:ln w="12700">
            <a:solidFill>
              <a:srgbClr val="C2A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548640"/>
            <a:ext cx="11094415" cy="5760720"/>
          </a:xfrm>
          <a:prstGeom prst="rect">
            <a:avLst/>
          </a:prstGeom>
          <a:noFill/>
          <a:ln w="9525">
            <a:solidFill>
              <a:srgbClr val="1A2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8686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1" i="0" spc="300">
                <a:solidFill>
                  <a:srgbClr val="C2A14D"/>
                </a:solidFill>
                <a:latin typeface="맑은 고딕"/>
              </a:rPr>
              <a:t>PLAN2GRAPH · 논문 중간 발표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033271" y="2331720"/>
            <a:ext cx="2011680" cy="0"/>
          </a:xfrm>
          <a:prstGeom prst="bentConnector3">
            <a:avLst/>
          </a:prstGeom>
          <a:ln w="19050">
            <a:solidFill>
              <a:srgbClr val="C2A14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005840" y="2514600"/>
            <a:ext cx="102412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600" b="1" i="0">
                <a:solidFill>
                  <a:srgbClr val="FFFFFF"/>
                </a:solidFill>
                <a:latin typeface="맑은 고딕"/>
              </a:rPr>
              <a:t>한국형 소버린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600" b="1" i="0">
                <a:solidFill>
                  <a:srgbClr val="E6D6A6"/>
                </a:solidFill>
                <a:latin typeface="맑은 고딕"/>
              </a:rPr>
              <a:t>아파트 평면도 생성 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1" y="4572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 i="0" spc="50">
                <a:solidFill>
                  <a:srgbClr val="8C919C"/>
                </a:solidFill>
                <a:latin typeface="맑은 고딕"/>
              </a:rPr>
              <a:t>법규-인식 · 완전 도면(문·창·기구·치수) · 한국 데이터 주권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1" y="58064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0" i="0" spc="100">
                <a:solidFill>
                  <a:srgbClr val="C2A14D"/>
                </a:solidFill>
                <a:latin typeface="맑은 고딕"/>
              </a:rPr>
              <a:t>데이터셋 구축 · 파이프라인 · AI 모델 · 성능        |      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41148" cy="566928"/>
          </a:xfrm>
          <a:prstGeom prst="rect">
            <a:avLst/>
          </a:prstGeom>
          <a:solidFill>
            <a:srgbClr val="C2A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0292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1" i="0" spc="220">
                <a:solidFill>
                  <a:srgbClr val="C2A14D"/>
                </a:solidFill>
                <a:latin typeface="맑은 고딕"/>
              </a:rPr>
              <a:t>BACKGROUND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13232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400" b="1" i="0">
                <a:solidFill>
                  <a:srgbClr val="212733"/>
                </a:solidFill>
                <a:latin typeface="맑은 고딕"/>
              </a:rPr>
              <a:t>연구 배경 · 목표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389888"/>
            <a:ext cx="11091672" cy="0"/>
          </a:xfrm>
          <a:prstGeom prst="bentConnector3">
            <a:avLst/>
          </a:prstGeom>
          <a:ln w="12700">
            <a:solidFill>
              <a:srgbClr val="E7E3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bentConnector3">
            <a:avLst/>
          </a:prstGeom>
          <a:ln w="9525">
            <a:solidFill>
              <a:srgbClr val="E7E3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850" b="0" i="0" spc="60">
                <a:solidFill>
                  <a:srgbClr val="8C919C"/>
                </a:solidFill>
                <a:latin typeface="맑은 고딕"/>
              </a:rPr>
              <a:t>plan2graph · 한국형 소버린 평면도 생성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46520"/>
            <a:ext cx="103327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500"/>
              </a:spcAft>
            </a:pPr>
            <a:r>
              <a:rPr sz="850" b="1" i="0">
                <a:solidFill>
                  <a:srgbClr val="C2A14D"/>
                </a:solidFill>
                <a:latin typeface="맑은 고딕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627632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900" b="1" i="0">
                <a:solidFill>
                  <a:srgbClr val="212733"/>
                </a:solidFill>
                <a:latin typeface="맑은 고딕"/>
              </a:rPr>
              <a:t>건축가가 실제로 쓸 수 있는 ‘완전한’ 한국 아파트 평면도를 생성하는 AI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50" b="0" i="0">
                <a:solidFill>
                  <a:srgbClr val="8C919C"/>
                </a:solidFill>
                <a:latin typeface="맑은 고딕"/>
              </a:rPr>
              <a:t>기존 SOTA(RPLAN 류)는 벡터 방·벽 레이아웃까지 — 문·창·기구·치수·법규는 다루지 않는다.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971800"/>
            <a:ext cx="342900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3D8"/>
            </a:solidFill>
          </a:ln>
          <a:effectLst/>
          <a:effectLst>
            <a:outerShdw blurRad="90000" dist="38000" dir="5400000" rotWithShape="0">
              <a:srgbClr val="0B0E14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2971800"/>
            <a:ext cx="3429000" cy="45720"/>
          </a:xfrm>
          <a:prstGeom prst="rect">
            <a:avLst/>
          </a:prstGeom>
          <a:solidFill>
            <a:srgbClr val="C2A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3154680"/>
            <a:ext cx="2971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1" i="0" spc="140">
                <a:solidFill>
                  <a:srgbClr val="8C919C"/>
                </a:solidFill>
                <a:latin typeface="맑은 고딕"/>
              </a:rPr>
              <a:t>산출물 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" y="3447288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700" b="1" i="0">
                <a:solidFill>
                  <a:srgbClr val="212733"/>
                </a:solidFill>
                <a:latin typeface="맑은 고딕"/>
              </a:rPr>
              <a:t>생성형 도면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3950208"/>
            <a:ext cx="2971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1" i="0">
                <a:solidFill>
                  <a:srgbClr val="C2A14D"/>
                </a:solidFill>
                <a:latin typeface="맑은 고딕"/>
              </a:rPr>
              <a:t>화면용 이미지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79976" y="2971800"/>
            <a:ext cx="342900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3D8"/>
            </a:solidFill>
          </a:ln>
          <a:effectLst/>
          <a:effectLst>
            <a:outerShdw blurRad="90000" dist="38000" dir="5400000" rotWithShape="0">
              <a:srgbClr val="0B0E14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79976" y="2971800"/>
            <a:ext cx="3429000" cy="45720"/>
          </a:xfrm>
          <a:prstGeom prst="rect">
            <a:avLst/>
          </a:prstGeom>
          <a:solidFill>
            <a:srgbClr val="3B53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36008" y="3154680"/>
            <a:ext cx="2971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1" i="0" spc="140">
                <a:solidFill>
                  <a:srgbClr val="8C919C"/>
                </a:solidFill>
                <a:latin typeface="맑은 고딕"/>
              </a:rPr>
              <a:t>산출물 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3447288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700" b="1" i="0">
                <a:solidFill>
                  <a:srgbClr val="212733"/>
                </a:solidFill>
                <a:latin typeface="맑은 고딕"/>
              </a:rPr>
              <a:t>AutoCAD DXF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36008" y="3950208"/>
            <a:ext cx="2971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1" i="0">
                <a:solidFill>
                  <a:srgbClr val="3B537C"/>
                </a:solidFill>
                <a:latin typeface="맑은 고딕"/>
              </a:rPr>
              <a:t>작도용 파일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28431" y="2971800"/>
            <a:ext cx="342900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3D8"/>
            </a:solidFill>
          </a:ln>
          <a:effectLst/>
          <a:effectLst>
            <a:outerShdw blurRad="90000" dist="38000" dir="5400000" rotWithShape="0">
              <a:srgbClr val="0B0E14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28431" y="2971800"/>
            <a:ext cx="3429000" cy="45720"/>
          </a:xfrm>
          <a:prstGeom prst="rect">
            <a:avLst/>
          </a:prstGeom>
          <a:solidFill>
            <a:srgbClr val="3F6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84463" y="3154680"/>
            <a:ext cx="2971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1" i="0" spc="140">
                <a:solidFill>
                  <a:srgbClr val="8C919C"/>
                </a:solidFill>
                <a:latin typeface="맑은 고딕"/>
              </a:rPr>
              <a:t>방식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66175" y="3447288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700" b="1" i="0">
                <a:solidFill>
                  <a:srgbClr val="212733"/>
                </a:solidFill>
                <a:latin typeface="맑은 고딕"/>
              </a:rPr>
              <a:t>self-correct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84463" y="3950208"/>
            <a:ext cx="2971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1" i="0">
                <a:solidFill>
                  <a:srgbClr val="3F6F52"/>
                </a:solidFill>
                <a:latin typeface="맑은 고딕"/>
              </a:rPr>
              <a:t>생성→검증→보정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4663440"/>
            <a:ext cx="1069848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1" i="0" spc="100">
                <a:solidFill>
                  <a:srgbClr val="C2A14D"/>
                </a:solidFill>
                <a:latin typeface="맑은 고딕"/>
              </a:rPr>
              <a:t>핵심 차별성 — 논문 기여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C2A14D"/>
                </a:solidFill>
                <a:latin typeface="맑은 고딕"/>
              </a:rPr>
              <a:t>—  </a:t>
            </a:r>
            <a:r>
              <a:rPr sz="1400" b="0" i="0">
                <a:solidFill>
                  <a:srgbClr val="212733"/>
                </a:solidFill>
                <a:latin typeface="맑은 고딕"/>
              </a:rPr>
              <a:t>법규-인식 생성: 한국 건축법규(채광 §17①·환기·피난·면적)를 생성에 강제 — 필드 최초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C2A14D"/>
                </a:solidFill>
                <a:latin typeface="맑은 고딕"/>
              </a:rPr>
              <a:t>—  </a:t>
            </a:r>
            <a:r>
              <a:rPr sz="1400" b="0" i="0">
                <a:solidFill>
                  <a:srgbClr val="212733"/>
                </a:solidFill>
                <a:latin typeface="맑은 고딕"/>
              </a:rPr>
              <a:t>완전 도면: 레이아웃을 넘어 문·창·기구·치수까지 채운 작도 가능 도면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C2A14D"/>
                </a:solidFill>
                <a:latin typeface="맑은 고딕"/>
              </a:rPr>
              <a:t>—  </a:t>
            </a:r>
            <a:r>
              <a:rPr sz="1400" b="0" i="0">
                <a:solidFill>
                  <a:srgbClr val="212733"/>
                </a:solidFill>
                <a:latin typeface="맑은 고딕"/>
              </a:rPr>
              <a:t>한국 소버린: 한국 아파트 데이터로 학습한 자체 소유 엔진(외부 모델 단순 호출 아님)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41148" cy="566928"/>
          </a:xfrm>
          <a:prstGeom prst="rect">
            <a:avLst/>
          </a:prstGeom>
          <a:solidFill>
            <a:srgbClr val="C2A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0292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1" i="0" spc="220">
                <a:solidFill>
                  <a:srgbClr val="C2A14D"/>
                </a:solidFill>
                <a:latin typeface="맑은 고딕"/>
              </a:rPr>
              <a:t>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13232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400" b="1" i="0">
                <a:solidFill>
                  <a:srgbClr val="212733"/>
                </a:solidFill>
                <a:latin typeface="맑은 고딕"/>
              </a:rPr>
              <a:t>전체 파이프라인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389888"/>
            <a:ext cx="11091672" cy="0"/>
          </a:xfrm>
          <a:prstGeom prst="bentConnector3">
            <a:avLst/>
          </a:prstGeom>
          <a:ln w="12700">
            <a:solidFill>
              <a:srgbClr val="E7E3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bentConnector3">
            <a:avLst/>
          </a:prstGeom>
          <a:ln w="9525">
            <a:solidFill>
              <a:srgbClr val="E7E3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850" b="0" i="0" spc="60">
                <a:solidFill>
                  <a:srgbClr val="8C919C"/>
                </a:solidFill>
                <a:latin typeface="맑은 고딕"/>
              </a:rPr>
              <a:t>plan2graph · 한국형 소버린 평면도 생성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46520"/>
            <a:ext cx="103327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500"/>
              </a:spcAft>
            </a:pPr>
            <a:r>
              <a:rPr sz="850" b="1" i="0">
                <a:solidFill>
                  <a:srgbClr val="C2A14D"/>
                </a:solidFill>
                <a:latin typeface="맑은 고딕"/>
              </a:rPr>
              <a:t>03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783080"/>
            <a:ext cx="1517904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3D8"/>
            </a:solidFill>
          </a:ln>
          <a:effectLst/>
          <a:effectLst>
            <a:outerShdw blurRad="90000" dist="38000" dir="5400000" rotWithShape="0">
              <a:srgbClr val="0B0E14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212733"/>
                </a:solidFill>
                <a:latin typeface="맑은 고딕"/>
              </a:rPr>
              <a:t>데이터</a:t>
            </a:r>
          </a:p>
          <a:p>
            <a:pPr algn="ctr"/>
            <a:r>
              <a:rPr sz="1100" b="0" i="0">
                <a:solidFill>
                  <a:srgbClr val="8C919C"/>
                </a:solidFill>
                <a:latin typeface="맑은 고딕"/>
              </a:rPr>
              <a:t>3개 출처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783080"/>
            <a:ext cx="1517904" cy="45720"/>
          </a:xfrm>
          <a:prstGeom prst="rect">
            <a:avLst/>
          </a:prstGeom>
          <a:solidFill>
            <a:srgbClr val="C2A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84832" y="1783080"/>
            <a:ext cx="274320" cy="8412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000" b="1" i="0">
                <a:solidFill>
                  <a:srgbClr val="C2A14D"/>
                </a:solidFill>
                <a:latin typeface="맑은 고딕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59152" y="1783080"/>
            <a:ext cx="1517904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3D8"/>
            </a:solidFill>
          </a:ln>
          <a:effectLst/>
          <a:effectLst>
            <a:outerShdw blurRad="90000" dist="38000" dir="5400000" rotWithShape="0">
              <a:srgbClr val="0B0E14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212733"/>
                </a:solidFill>
                <a:latin typeface="맑은 고딕"/>
              </a:rPr>
              <a:t>통일 그래프</a:t>
            </a:r>
          </a:p>
          <a:p>
            <a:pPr algn="ctr"/>
            <a:r>
              <a:rPr sz="1100" b="0" i="0">
                <a:solidFill>
                  <a:srgbClr val="8C919C"/>
                </a:solidFill>
                <a:latin typeface="맑은 고딕"/>
              </a:rPr>
              <a:t>g-0.3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359152" y="1783080"/>
            <a:ext cx="1517904" cy="45720"/>
          </a:xfrm>
          <a:prstGeom prst="rect">
            <a:avLst/>
          </a:prstGeom>
          <a:solidFill>
            <a:srgbClr val="C2A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77056" y="1783080"/>
            <a:ext cx="274320" cy="8412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000" b="1" i="0">
                <a:solidFill>
                  <a:srgbClr val="C2A14D"/>
                </a:solidFill>
                <a:latin typeface="맑은 고딕"/>
              </a:rPr>
              <a:t>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51376" y="1783080"/>
            <a:ext cx="1517904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3D8"/>
            </a:solidFill>
          </a:ln>
          <a:effectLst/>
          <a:effectLst>
            <a:outerShdw blurRad="90000" dist="38000" dir="5400000" rotWithShape="0">
              <a:srgbClr val="0B0E14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212733"/>
                </a:solidFill>
                <a:latin typeface="맑은 고딕"/>
              </a:rPr>
              <a:t>위상 모델</a:t>
            </a:r>
          </a:p>
          <a:p>
            <a:pPr algn="ctr"/>
            <a:r>
              <a:rPr sz="1100" b="0" i="0">
                <a:solidFill>
                  <a:srgbClr val="8C919C"/>
                </a:solidFill>
                <a:latin typeface="맑은 고딕"/>
              </a:rPr>
              <a:t>방 연결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51376" y="1783080"/>
            <a:ext cx="1517904" cy="45720"/>
          </a:xfrm>
          <a:prstGeom prst="rect">
            <a:avLst/>
          </a:prstGeom>
          <a:solidFill>
            <a:srgbClr val="C2A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0" y="1783080"/>
            <a:ext cx="274320" cy="8412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000" b="1" i="0">
                <a:solidFill>
                  <a:srgbClr val="C2A14D"/>
                </a:solidFill>
                <a:latin typeface="맑은 고딕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0" y="1783080"/>
            <a:ext cx="1517904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3D8"/>
            </a:solidFill>
          </a:ln>
          <a:effectLst/>
          <a:effectLst>
            <a:outerShdw blurRad="90000" dist="38000" dir="5400000" rotWithShape="0">
              <a:srgbClr val="0B0E14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212733"/>
                </a:solidFill>
                <a:latin typeface="맑은 고딕"/>
              </a:rPr>
              <a:t>기하 모델</a:t>
            </a:r>
          </a:p>
          <a:p>
            <a:pPr algn="ctr"/>
            <a:r>
              <a:rPr sz="1100" b="0" i="0">
                <a:solidFill>
                  <a:srgbClr val="8C919C"/>
                </a:solidFill>
                <a:latin typeface="맑은 고딕"/>
              </a:rPr>
              <a:t>T / 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0" y="1783080"/>
            <a:ext cx="1517904" cy="45720"/>
          </a:xfrm>
          <a:prstGeom prst="rect">
            <a:avLst/>
          </a:prstGeom>
          <a:solidFill>
            <a:srgbClr val="C2A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61504" y="1783080"/>
            <a:ext cx="274320" cy="8412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000" b="1" i="0">
                <a:solidFill>
                  <a:srgbClr val="C2A14D"/>
                </a:solidFill>
                <a:latin typeface="맑은 고딕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35824" y="1783080"/>
            <a:ext cx="1517904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3D8"/>
            </a:solidFill>
          </a:ln>
          <a:effectLst/>
          <a:effectLst>
            <a:outerShdw blurRad="90000" dist="38000" dir="5400000" rotWithShape="0">
              <a:srgbClr val="0B0E14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212733"/>
                </a:solidFill>
                <a:latin typeface="맑은 고딕"/>
              </a:rPr>
              <a:t>neuro-symbolic</a:t>
            </a:r>
          </a:p>
          <a:p>
            <a:pPr algn="ctr"/>
            <a:r>
              <a:rPr sz="1100" b="0" i="0">
                <a:solidFill>
                  <a:srgbClr val="8C919C"/>
                </a:solidFill>
                <a:latin typeface="맑은 고딕"/>
              </a:rPr>
              <a:t>보정·법규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35824" y="1783080"/>
            <a:ext cx="1517904" cy="45720"/>
          </a:xfrm>
          <a:prstGeom prst="rect">
            <a:avLst/>
          </a:prstGeom>
          <a:solidFill>
            <a:srgbClr val="C2A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53728" y="1783080"/>
            <a:ext cx="274320" cy="8412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000" b="1" i="0">
                <a:solidFill>
                  <a:srgbClr val="C2A14D"/>
                </a:solidFill>
                <a:latin typeface="맑은 고딕"/>
              </a:rPr>
              <a:t>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28048" y="1783080"/>
            <a:ext cx="1517904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3D8"/>
            </a:solidFill>
          </a:ln>
          <a:effectLst/>
          <a:effectLst>
            <a:outerShdw blurRad="90000" dist="38000" dir="5400000" rotWithShape="0">
              <a:srgbClr val="0B0E14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212733"/>
                </a:solidFill>
                <a:latin typeface="맑은 고딕"/>
              </a:rPr>
              <a:t>렌더</a:t>
            </a:r>
          </a:p>
          <a:p>
            <a:pPr algn="ctr"/>
            <a:r>
              <a:rPr sz="1100" b="0" i="0">
                <a:solidFill>
                  <a:srgbClr val="8C919C"/>
                </a:solidFill>
                <a:latin typeface="맑은 고딕"/>
              </a:rPr>
              <a:t>이미지+DXF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528048" y="1783080"/>
            <a:ext cx="1517904" cy="45720"/>
          </a:xfrm>
          <a:prstGeom prst="rect">
            <a:avLst/>
          </a:prstGeom>
          <a:solidFill>
            <a:srgbClr val="C2A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297180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2A14D"/>
                </a:solidFill>
                <a:latin typeface="맑은 고딕"/>
              </a:rPr>
              <a:t>T · G = ‘같은 파이프라인, 기하모델만 다른’ A/B 비교 (ADR-0007)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731520" y="3520440"/>
          <a:ext cx="10698480" cy="16824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4937760"/>
                <a:gridCol w="3931920"/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E6D6A6"/>
                          </a:solidFill>
                          <a:latin typeface="맑은 고딕"/>
                        </a:rPr>
                        <a:t>축</a:t>
                      </a:r>
                    </a:p>
                  </a:txBody>
                  <a:tcPr marT="38100" marB="38100" marL="114300" marR="114300" anchor="ctr">
                    <a:solidFill>
                      <a:srgbClr val="1014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E6D6A6"/>
                          </a:solidFill>
                          <a:latin typeface="맑은 고딕"/>
                        </a:rPr>
                        <a:t>T-라인 (baseline)</a:t>
                      </a:r>
                    </a:p>
                  </a:txBody>
                  <a:tcPr marT="38100" marB="38100" marL="114300" marR="114300" anchor="ctr">
                    <a:solidFill>
                      <a:srgbClr val="1014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E6D6A6"/>
                          </a:solidFill>
                          <a:latin typeface="맑은 고딕"/>
                        </a:rPr>
                        <a:t>G-라인 (소버린)</a:t>
                      </a:r>
                    </a:p>
                  </a:txBody>
                  <a:tcPr marT="38100" marB="38100" marL="114300" marR="114300" anchor="ctr">
                    <a:solidFill>
                      <a:srgbClr val="10141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212733"/>
                          </a:solidFill>
                          <a:latin typeface="맑은 고딕"/>
                        </a:rPr>
                        <a:t>기하모델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12733"/>
                          </a:solidFill>
                          <a:latin typeface="맑은 고딕"/>
                        </a:rPr>
                        <a:t>약한 박스 — ‘위상+약한기하=못그림’ 증명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12733"/>
                          </a:solidFill>
                          <a:latin typeface="맑은 고딕"/>
                        </a:rPr>
                        <a:t>강한 diffusion 엔진 (자체)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212733"/>
                          </a:solidFill>
                          <a:latin typeface="맑은 고딕"/>
                        </a:rPr>
                        <a:t>데이터</a:t>
                      </a:r>
                    </a:p>
                  </a:txBody>
                  <a:tcPr marT="38100" marB="38100" marL="114300" marR="114300" anchor="ctr"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12733"/>
                          </a:solidFill>
                          <a:latin typeface="맑은 고딕"/>
                        </a:rPr>
                        <a:t>자동 추출 그래프</a:t>
                      </a:r>
                    </a:p>
                  </a:txBody>
                  <a:tcPr marT="38100" marB="38100" marL="114300" marR="114300" anchor="ctr"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12733"/>
                          </a:solidFill>
                          <a:latin typeface="맑은 고딕"/>
                        </a:rPr>
                        <a:t>+ 사람(알바) SVG 보정</a:t>
                      </a:r>
                    </a:p>
                  </a:txBody>
                  <a:tcPr marT="38100" marB="38100" marL="114300" marR="114300" anchor="ctr">
                    <a:solidFill>
                      <a:srgbClr val="FBFAF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212733"/>
                          </a:solidFill>
                          <a:latin typeface="맑은 고딕"/>
                        </a:rPr>
                        <a:t>역할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12733"/>
                          </a:solidFill>
                          <a:latin typeface="맑은 고딕"/>
                        </a:rPr>
                        <a:t>비교 기준선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12733"/>
                          </a:solidFill>
                          <a:latin typeface="맑은 고딕"/>
                        </a:rPr>
                        <a:t>본 제품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TextBox 28"/>
          <p:cNvSpPr txBox="1"/>
          <p:nvPr/>
        </p:nvSpPr>
        <p:spPr>
          <a:xfrm>
            <a:off x="731520" y="589788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 i="0">
                <a:solidFill>
                  <a:srgbClr val="8C919C"/>
                </a:solidFill>
                <a:latin typeface="맑은 고딕"/>
              </a:rPr>
              <a:t>비교 지표: FID · 법규준수율 · 완성도 — 기하모델 효과를 격리해 정량 비교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41148" cy="566928"/>
          </a:xfrm>
          <a:prstGeom prst="rect">
            <a:avLst/>
          </a:prstGeom>
          <a:solidFill>
            <a:srgbClr val="C2A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0292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1" i="0" spc="220">
                <a:solidFill>
                  <a:srgbClr val="C2A14D"/>
                </a:solidFill>
                <a:latin typeface="맑은 고딕"/>
              </a:rPr>
              <a:t>AT A GLANCE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13232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400" b="1" i="0">
                <a:solidFill>
                  <a:srgbClr val="212733"/>
                </a:solidFill>
                <a:latin typeface="맑은 고딕"/>
              </a:rPr>
              <a:t>핵심 숫자 한눈에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389888"/>
            <a:ext cx="11091672" cy="0"/>
          </a:xfrm>
          <a:prstGeom prst="bentConnector3">
            <a:avLst/>
          </a:prstGeom>
          <a:ln w="12700">
            <a:solidFill>
              <a:srgbClr val="E7E3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bentConnector3">
            <a:avLst/>
          </a:prstGeom>
          <a:ln w="9525">
            <a:solidFill>
              <a:srgbClr val="E7E3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850" b="0" i="0" spc="60">
                <a:solidFill>
                  <a:srgbClr val="8C919C"/>
                </a:solidFill>
                <a:latin typeface="맑은 고딕"/>
              </a:rPr>
              <a:t>plan2graph · 한국형 소버린 평면도 생성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46520"/>
            <a:ext cx="103327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500"/>
              </a:spcAft>
            </a:pPr>
            <a:r>
              <a:rPr sz="850" b="1" i="0">
                <a:solidFill>
                  <a:srgbClr val="C2A14D"/>
                </a:solidFill>
                <a:latin typeface="맑은 고딕"/>
              </a:rPr>
              <a:t>04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1691640"/>
            <a:ext cx="3456432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3D8"/>
            </a:solidFill>
          </a:ln>
          <a:effectLst/>
          <a:effectLst>
            <a:outerShdw blurRad="90000" dist="38000" dir="5400000" rotWithShape="0">
              <a:srgbClr val="0B0E14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1691640"/>
            <a:ext cx="3456432" cy="45720"/>
          </a:xfrm>
          <a:prstGeom prst="rect">
            <a:avLst/>
          </a:prstGeom>
          <a:solidFill>
            <a:srgbClr val="C2A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1874520"/>
            <a:ext cx="299923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1" i="0" spc="140">
                <a:solidFill>
                  <a:srgbClr val="8C919C"/>
                </a:solidFill>
                <a:latin typeface="맑은 고딕"/>
              </a:rPr>
              <a:t>받은 원본 · 3출처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2167128"/>
            <a:ext cx="3090672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700" b="1" i="0">
                <a:solidFill>
                  <a:srgbClr val="212733"/>
                </a:solidFill>
                <a:latin typeface="맑은 고딕"/>
              </a:rPr>
              <a:t>129,007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2670048"/>
            <a:ext cx="29992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1" i="0">
                <a:solidFill>
                  <a:srgbClr val="C2A14D"/>
                </a:solidFill>
                <a:latin typeface="맑은 고딕"/>
              </a:rPr>
              <a:t>AI-Hub·RPLAN·CubiCasa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120" y="1691640"/>
            <a:ext cx="3456432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3D8"/>
            </a:solidFill>
          </a:ln>
          <a:effectLst/>
          <a:effectLst>
            <a:outerShdw blurRad="90000" dist="38000" dir="5400000" rotWithShape="0">
              <a:srgbClr val="0B0E14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89120" y="1691640"/>
            <a:ext cx="3456432" cy="45720"/>
          </a:xfrm>
          <a:prstGeom prst="rect">
            <a:avLst/>
          </a:prstGeom>
          <a:solidFill>
            <a:srgbClr val="3F6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45152" y="1874520"/>
            <a:ext cx="299923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1" i="0" spc="140">
                <a:solidFill>
                  <a:srgbClr val="8C919C"/>
                </a:solidFill>
                <a:latin typeface="맑은 고딕"/>
              </a:rPr>
              <a:t>사용 가능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26864" y="2167128"/>
            <a:ext cx="3090672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700" b="1" i="0">
                <a:solidFill>
                  <a:srgbClr val="212733"/>
                </a:solidFill>
                <a:latin typeface="맑은 고딕"/>
              </a:rPr>
              <a:t>94,320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45152" y="2670048"/>
            <a:ext cx="29992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1" i="0">
                <a:solidFill>
                  <a:srgbClr val="3F6F52"/>
                </a:solidFill>
                <a:latin typeface="맑은 고딕"/>
              </a:rPr>
              <a:t>처분: 사용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0" y="1691640"/>
            <a:ext cx="3456432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3D8"/>
            </a:solidFill>
          </a:ln>
          <a:effectLst/>
          <a:effectLst>
            <a:outerShdw blurRad="90000" dist="38000" dir="5400000" rotWithShape="0">
              <a:srgbClr val="0B0E14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0" y="1691640"/>
            <a:ext cx="3456432" cy="45720"/>
          </a:xfrm>
          <a:prstGeom prst="rect">
            <a:avLst/>
          </a:prstGeom>
          <a:solidFill>
            <a:srgbClr val="3B53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2752" y="1874520"/>
            <a:ext cx="299923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1" i="0" spc="140">
                <a:solidFill>
                  <a:srgbClr val="8C919C"/>
                </a:solidFill>
                <a:latin typeface="맑은 고딕"/>
              </a:rPr>
              <a:t>온전 · AI-HUB APT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4" y="2167128"/>
            <a:ext cx="3090672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700" b="1" i="0">
                <a:solidFill>
                  <a:srgbClr val="212733"/>
                </a:solidFill>
                <a:latin typeface="맑은 고딕"/>
              </a:rPr>
              <a:t>24,706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02752" y="2670048"/>
            <a:ext cx="29992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1" i="0">
                <a:solidFill>
                  <a:srgbClr val="3B537C"/>
                </a:solidFill>
                <a:latin typeface="맑은 고딕"/>
              </a:rPr>
              <a:t>64.7% 품질 게이트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3246120"/>
            <a:ext cx="3456432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3D8"/>
            </a:solidFill>
          </a:ln>
          <a:effectLst/>
          <a:effectLst>
            <a:outerShdw blurRad="90000" dist="38000" dir="5400000" rotWithShape="0">
              <a:srgbClr val="0B0E14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1520" y="3246120"/>
            <a:ext cx="3456432" cy="45720"/>
          </a:xfrm>
          <a:prstGeom prst="rect">
            <a:avLst/>
          </a:prstGeom>
          <a:solidFill>
            <a:srgbClr val="C2A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2" y="3429000"/>
            <a:ext cx="299923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1" i="0" spc="140">
                <a:solidFill>
                  <a:srgbClr val="8C919C"/>
                </a:solidFill>
                <a:latin typeface="맑은 고딕"/>
              </a:rPr>
              <a:t>엔진 · 역할/방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9264" y="3721608"/>
            <a:ext cx="3090672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700" b="1" i="0">
                <a:solidFill>
                  <a:srgbClr val="212733"/>
                </a:solidFill>
                <a:latin typeface="맑은 고딕"/>
              </a:rPr>
              <a:t>13 / 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7552" y="4224528"/>
            <a:ext cx="29992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1" i="0">
                <a:solidFill>
                  <a:srgbClr val="C2A14D"/>
                </a:solidFill>
                <a:latin typeface="맑은 고딕"/>
              </a:rPr>
              <a:t>한국형 확장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120" y="3246120"/>
            <a:ext cx="3456432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3D8"/>
            </a:solidFill>
          </a:ln>
          <a:effectLst/>
          <a:effectLst>
            <a:outerShdw blurRad="90000" dist="38000" dir="5400000" rotWithShape="0">
              <a:srgbClr val="0B0E14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389120" y="3246120"/>
            <a:ext cx="3456432" cy="45720"/>
          </a:xfrm>
          <a:prstGeom prst="rect">
            <a:avLst/>
          </a:prstGeom>
          <a:solidFill>
            <a:srgbClr val="3F6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45152" y="3429000"/>
            <a:ext cx="299923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1" i="0" spc="140">
                <a:solidFill>
                  <a:srgbClr val="8C919C"/>
                </a:solidFill>
                <a:latin typeface="맑은 고딕"/>
              </a:rPr>
              <a:t>DIFFPLANNER RPLAN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26864" y="3721608"/>
            <a:ext cx="3090672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700" b="1" i="0">
                <a:solidFill>
                  <a:srgbClr val="212733"/>
                </a:solidFill>
                <a:latin typeface="맑은 고딕"/>
              </a:rPr>
              <a:t>FID 1.23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45152" y="4224528"/>
            <a:ext cx="29992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1" i="0">
                <a:solidFill>
                  <a:srgbClr val="3F6F52"/>
                </a:solidFill>
                <a:latin typeface="맑은 고딕"/>
              </a:rPr>
              <a:t>베이스라인 검증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46720" y="3246120"/>
            <a:ext cx="3456432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3D8"/>
            </a:solidFill>
          </a:ln>
          <a:effectLst/>
          <a:effectLst>
            <a:outerShdw blurRad="90000" dist="38000" dir="5400000" rotWithShape="0">
              <a:srgbClr val="0B0E14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046720" y="3246120"/>
            <a:ext cx="3456432" cy="45720"/>
          </a:xfrm>
          <a:prstGeom prst="rect">
            <a:avLst/>
          </a:prstGeom>
          <a:solidFill>
            <a:srgbClr val="3B53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302752" y="3429000"/>
            <a:ext cx="299923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1" i="0" spc="140">
                <a:solidFill>
                  <a:srgbClr val="8C919C"/>
                </a:solidFill>
                <a:latin typeface="맑은 고딕"/>
              </a:rPr>
              <a:t>통일 그래프 · 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84464" y="3721608"/>
            <a:ext cx="3090672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700" b="1" i="0">
                <a:solidFill>
                  <a:srgbClr val="212733"/>
                </a:solidFill>
                <a:latin typeface="맑은 고딕"/>
              </a:rPr>
              <a:t>40,495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02752" y="4224528"/>
            <a:ext cx="29992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1" i="0">
                <a:solidFill>
                  <a:srgbClr val="3B537C"/>
                </a:solidFill>
                <a:latin typeface="맑은 고딕"/>
              </a:rPr>
              <a:t>세대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731520" y="5029200"/>
            <a:ext cx="10698480" cy="0"/>
          </a:xfrm>
          <a:prstGeom prst="bentConnector3">
            <a:avLst/>
          </a:prstGeom>
          <a:ln w="15240">
            <a:solidFill>
              <a:srgbClr val="C2A14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731520" y="516636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 i="0">
                <a:solidFill>
                  <a:srgbClr val="212733"/>
                </a:solidFill>
                <a:latin typeface="맑은 고딕"/>
              </a:rPr>
              <a:t>데이터 129,007 → 통일 그래프 40,495세대 → 자체 엔진(13역할/18방) → 완전 도면 + DXF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00" b="0" i="0">
                <a:solidFill>
                  <a:srgbClr val="8C919C"/>
                </a:solidFill>
                <a:latin typeface="맑은 고딕"/>
              </a:rPr>
              <a:t>박스 회귀 사망(정답 99% 겹침) → diffusion 엔진 전환 · neuro-symbolic으로 완전성 확보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41148" cy="566928"/>
          </a:xfrm>
          <a:prstGeom prst="rect">
            <a:avLst/>
          </a:prstGeom>
          <a:solidFill>
            <a:srgbClr val="C2A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0292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1" i="0" spc="220">
                <a:solidFill>
                  <a:srgbClr val="C2A14D"/>
                </a:solidFill>
                <a:latin typeface="맑은 고딕"/>
              </a:rPr>
              <a:t>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13232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400" b="1" i="0">
                <a:solidFill>
                  <a:srgbClr val="212733"/>
                </a:solidFill>
                <a:latin typeface="맑은 고딕"/>
              </a:rPr>
              <a:t>데이터셋 구축 ① — 출처 · 규모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389888"/>
            <a:ext cx="11091672" cy="0"/>
          </a:xfrm>
          <a:prstGeom prst="bentConnector3">
            <a:avLst/>
          </a:prstGeom>
          <a:ln w="12700">
            <a:solidFill>
              <a:srgbClr val="E7E3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bentConnector3">
            <a:avLst/>
          </a:prstGeom>
          <a:ln w="9525">
            <a:solidFill>
              <a:srgbClr val="E7E3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850" b="0" i="0" spc="60">
                <a:solidFill>
                  <a:srgbClr val="8C919C"/>
                </a:solidFill>
                <a:latin typeface="맑은 고딕"/>
              </a:rPr>
              <a:t>plan2graph · 한국형 소버린 평면도 생성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46520"/>
            <a:ext cx="103327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500"/>
              </a:spcAft>
            </a:pPr>
            <a:r>
              <a:rPr sz="850" b="1" i="0">
                <a:solidFill>
                  <a:srgbClr val="C2A14D"/>
                </a:solidFill>
                <a:latin typeface="맑은 고딕"/>
              </a:rPr>
              <a:t>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1" i="0">
                <a:solidFill>
                  <a:srgbClr val="212733"/>
                </a:solidFill>
                <a:latin typeface="맑은 고딕"/>
              </a:rPr>
              <a:t>3개 공개 데이터셋을 하나의 통일 그래프 규격으로 흡수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31520" y="2194560"/>
          <a:ext cx="10698480" cy="2103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51760"/>
                <a:gridCol w="2011680"/>
                <a:gridCol w="3931920"/>
                <a:gridCol w="2103120"/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E6D6A6"/>
                          </a:solidFill>
                          <a:latin typeface="맑은 고딕"/>
                        </a:rPr>
                        <a:t>출처</a:t>
                      </a:r>
                    </a:p>
                  </a:txBody>
                  <a:tcPr marT="38100" marB="38100" marL="114300" marR="114300" anchor="ctr">
                    <a:solidFill>
                      <a:srgbClr val="1014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E6D6A6"/>
                          </a:solidFill>
                          <a:latin typeface="맑은 고딕"/>
                        </a:rPr>
                        <a:t>받은 원본</a:t>
                      </a:r>
                    </a:p>
                  </a:txBody>
                  <a:tcPr marT="38100" marB="38100" marL="114300" marR="114300" anchor="ctr">
                    <a:solidFill>
                      <a:srgbClr val="1014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E6D6A6"/>
                          </a:solidFill>
                          <a:latin typeface="맑은 고딕"/>
                        </a:rPr>
                        <a:t>성격</a:t>
                      </a:r>
                    </a:p>
                  </a:txBody>
                  <a:tcPr marT="38100" marB="38100" marL="114300" marR="114300" anchor="ctr">
                    <a:solidFill>
                      <a:srgbClr val="1014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E6D6A6"/>
                          </a:solidFill>
                          <a:latin typeface="맑은 고딕"/>
                        </a:rPr>
                        <a:t>용도</a:t>
                      </a:r>
                    </a:p>
                  </a:txBody>
                  <a:tcPr marT="38100" marB="38100" marL="114300" marR="114300" anchor="ctr">
                    <a:solidFill>
                      <a:srgbClr val="10141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212733"/>
                          </a:solidFill>
                          <a:latin typeface="맑은 고딕"/>
                        </a:rPr>
                        <a:t>AI-Hub (한국)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12733"/>
                          </a:solidFill>
                          <a:latin typeface="맑은 고딕"/>
                        </a:rPr>
                        <a:t>43,219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12733"/>
                          </a:solidFill>
                          <a:latin typeface="맑은 고딕"/>
                        </a:rPr>
                        <a:t>한국 아파트·단독·연립 평면도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12733"/>
                          </a:solidFill>
                          <a:latin typeface="맑은 고딕"/>
                        </a:rPr>
                        <a:t>소버린 파인튜닝(핵심)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212733"/>
                          </a:solidFill>
                          <a:latin typeface="맑은 고딕"/>
                        </a:rPr>
                        <a:t>RPLAN</a:t>
                      </a:r>
                    </a:p>
                  </a:txBody>
                  <a:tcPr marT="38100" marB="38100" marL="114300" marR="114300" anchor="ctr"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12733"/>
                          </a:solidFill>
                          <a:latin typeface="맑은 고딕"/>
                        </a:rPr>
                        <a:t>80,788</a:t>
                      </a:r>
                    </a:p>
                  </a:txBody>
                  <a:tcPr marT="38100" marB="38100" marL="114300" marR="114300" anchor="ctr"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12733"/>
                          </a:solidFill>
                          <a:latin typeface="맑은 고딕"/>
                        </a:rPr>
                        <a:t>대규모 벡터 평면도</a:t>
                      </a:r>
                    </a:p>
                  </a:txBody>
                  <a:tcPr marT="38100" marB="38100" marL="114300" marR="114300" anchor="ctr"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12733"/>
                          </a:solidFill>
                          <a:latin typeface="맑은 고딕"/>
                        </a:rPr>
                        <a:t>글로벌 사전학습</a:t>
                      </a:r>
                    </a:p>
                  </a:txBody>
                  <a:tcPr marT="38100" marB="38100" marL="114300" marR="114300" anchor="ctr">
                    <a:solidFill>
                      <a:srgbClr val="FBFAF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212733"/>
                          </a:solidFill>
                          <a:latin typeface="맑은 고딕"/>
                        </a:rPr>
                        <a:t>CubiCasa5k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12733"/>
                          </a:solidFill>
                          <a:latin typeface="맑은 고딕"/>
                        </a:rPr>
                        <a:t>5,000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12733"/>
                          </a:solidFill>
                          <a:latin typeface="맑은 고딕"/>
                        </a:rPr>
                        <a:t>실측 벡터 평면도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12733"/>
                          </a:solidFill>
                          <a:latin typeface="맑은 고딕"/>
                        </a:rPr>
                        <a:t>글로벌 사전학습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212733"/>
                          </a:solidFill>
                          <a:latin typeface="맑은 고딕"/>
                        </a:rPr>
                        <a:t>합계</a:t>
                      </a:r>
                    </a:p>
                  </a:txBody>
                  <a:tcPr marT="38100" marB="38100" marL="114300" marR="114300" anchor="ctr"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12733"/>
                          </a:solidFill>
                          <a:latin typeface="맑은 고딕"/>
                        </a:rPr>
                        <a:t>129,007</a:t>
                      </a:r>
                    </a:p>
                  </a:txBody>
                  <a:tcPr marT="38100" marB="38100" marL="114300" marR="114300" anchor="ctr"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12733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 marT="38100" marB="38100" marL="114300" marR="114300" anchor="ctr"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12733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 marT="38100" marB="38100" marL="114300" marR="114300" anchor="ctr">
                    <a:solidFill>
                      <a:srgbClr val="FBFAF6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731520" y="4800600"/>
            <a:ext cx="342900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3D8"/>
            </a:solidFill>
          </a:ln>
          <a:effectLst/>
          <a:effectLst>
            <a:outerShdw blurRad="90000" dist="38000" dir="5400000" rotWithShape="0">
              <a:srgbClr val="0B0E14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4800600"/>
            <a:ext cx="3429000" cy="45720"/>
          </a:xfrm>
          <a:prstGeom prst="rect">
            <a:avLst/>
          </a:prstGeom>
          <a:solidFill>
            <a:srgbClr val="C2A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4983480"/>
            <a:ext cx="2971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1" i="0" spc="140">
                <a:solidFill>
                  <a:srgbClr val="8C919C"/>
                </a:solidFill>
                <a:latin typeface="맑은 고딕"/>
              </a:rPr>
              <a:t>받은 원본 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9264" y="5276088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700" b="1" i="0">
                <a:solidFill>
                  <a:srgbClr val="212733"/>
                </a:solidFill>
                <a:latin typeface="맑은 고딕"/>
              </a:rPr>
              <a:t>129,007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79976" y="4800600"/>
            <a:ext cx="342900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3D8"/>
            </a:solidFill>
          </a:ln>
          <a:effectLst/>
          <a:effectLst>
            <a:outerShdw blurRad="90000" dist="38000" dir="5400000" rotWithShape="0">
              <a:srgbClr val="0B0E14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79976" y="4800600"/>
            <a:ext cx="3429000" cy="45720"/>
          </a:xfrm>
          <a:prstGeom prst="rect">
            <a:avLst/>
          </a:prstGeom>
          <a:solidFill>
            <a:srgbClr val="3F6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36008" y="4983480"/>
            <a:ext cx="2971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1" i="0" spc="140">
                <a:solidFill>
                  <a:srgbClr val="8C919C"/>
                </a:solidFill>
                <a:latin typeface="맑은 고딕"/>
              </a:rPr>
              <a:t>사용 가능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5276088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700" b="1" i="0">
                <a:solidFill>
                  <a:srgbClr val="212733"/>
                </a:solidFill>
                <a:latin typeface="맑은 고딕"/>
              </a:rPr>
              <a:t>94,320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28431" y="4800600"/>
            <a:ext cx="342900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3D8"/>
            </a:solidFill>
          </a:ln>
          <a:effectLst/>
          <a:effectLst>
            <a:outerShdw blurRad="90000" dist="38000" dir="5400000" rotWithShape="0">
              <a:srgbClr val="0B0E14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28431" y="4800600"/>
            <a:ext cx="3429000" cy="45720"/>
          </a:xfrm>
          <a:prstGeom prst="rect">
            <a:avLst/>
          </a:prstGeom>
          <a:solidFill>
            <a:srgbClr val="9C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84463" y="4983480"/>
            <a:ext cx="2971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1" i="0" spc="140">
                <a:solidFill>
                  <a:srgbClr val="8C919C"/>
                </a:solidFill>
                <a:latin typeface="맑은 고딕"/>
              </a:rPr>
              <a:t>보정·복구 필요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66175" y="5276088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700" b="1" i="0">
                <a:solidFill>
                  <a:srgbClr val="212733"/>
                </a:solidFill>
                <a:latin typeface="맑은 고딕"/>
              </a:rPr>
              <a:t>11,793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41148" cy="566928"/>
          </a:xfrm>
          <a:prstGeom prst="rect">
            <a:avLst/>
          </a:prstGeom>
          <a:solidFill>
            <a:srgbClr val="C2A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0292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1" i="0" spc="220">
                <a:solidFill>
                  <a:srgbClr val="C2A14D"/>
                </a:solidFill>
                <a:latin typeface="맑은 고딕"/>
              </a:rPr>
              <a:t>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13232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400" b="1" i="0">
                <a:solidFill>
                  <a:srgbClr val="212733"/>
                </a:solidFill>
                <a:latin typeface="맑은 고딕"/>
              </a:rPr>
              <a:t>데이터셋 구축 ② — 회계(처분)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389888"/>
            <a:ext cx="11091672" cy="0"/>
          </a:xfrm>
          <a:prstGeom prst="bentConnector3">
            <a:avLst/>
          </a:prstGeom>
          <a:ln w="12700">
            <a:solidFill>
              <a:srgbClr val="E7E3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bentConnector3">
            <a:avLst/>
          </a:prstGeom>
          <a:ln w="9525">
            <a:solidFill>
              <a:srgbClr val="E7E3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850" b="0" i="0" spc="60">
                <a:solidFill>
                  <a:srgbClr val="8C919C"/>
                </a:solidFill>
                <a:latin typeface="맑은 고딕"/>
              </a:rPr>
              <a:t>plan2graph · 한국형 소버린 평면도 생성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46520"/>
            <a:ext cx="103327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500"/>
              </a:spcAft>
            </a:pPr>
            <a:r>
              <a:rPr sz="850" b="1" i="0">
                <a:solidFill>
                  <a:srgbClr val="C2A14D"/>
                </a:solidFill>
                <a:latin typeface="맑은 고딕"/>
              </a:rPr>
              <a:t>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1" i="0">
                <a:solidFill>
                  <a:srgbClr val="212733"/>
                </a:solidFill>
                <a:latin typeface="맑은 고딕"/>
              </a:rPr>
              <a:t>검수 본질 = 숫자 × 카테고리(사용/보정필요/제외) × 사유 · 단일 소스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31520" y="2194560"/>
          <a:ext cx="10698480" cy="2103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51760"/>
                <a:gridCol w="2011680"/>
                <a:gridCol w="2011680"/>
                <a:gridCol w="2011680"/>
                <a:gridCol w="2011680"/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E6D6A6"/>
                          </a:solidFill>
                          <a:latin typeface="맑은 고딕"/>
                        </a:rPr>
                        <a:t>출처</a:t>
                      </a:r>
                    </a:p>
                  </a:txBody>
                  <a:tcPr marT="38100" marB="38100" marL="114300" marR="114300" anchor="ctr">
                    <a:solidFill>
                      <a:srgbClr val="1014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E6D6A6"/>
                          </a:solidFill>
                          <a:latin typeface="맑은 고딕"/>
                        </a:rPr>
                        <a:t>사용</a:t>
                      </a:r>
                    </a:p>
                  </a:txBody>
                  <a:tcPr marT="38100" marB="38100" marL="114300" marR="114300" anchor="ctr">
                    <a:solidFill>
                      <a:srgbClr val="1014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E6D6A6"/>
                          </a:solidFill>
                          <a:latin typeface="맑은 고딕"/>
                        </a:rPr>
                        <a:t>보정필요</a:t>
                      </a:r>
                    </a:p>
                  </a:txBody>
                  <a:tcPr marT="38100" marB="38100" marL="114300" marR="114300" anchor="ctr">
                    <a:solidFill>
                      <a:srgbClr val="1014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E6D6A6"/>
                          </a:solidFill>
                          <a:latin typeface="맑은 고딕"/>
                        </a:rPr>
                        <a:t>제외</a:t>
                      </a:r>
                    </a:p>
                  </a:txBody>
                  <a:tcPr marT="38100" marB="38100" marL="114300" marR="114300" anchor="ctr">
                    <a:solidFill>
                      <a:srgbClr val="1014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E6D6A6"/>
                          </a:solidFill>
                          <a:latin typeface="맑은 고딕"/>
                        </a:rPr>
                        <a:t>합 = 다운로드</a:t>
                      </a:r>
                    </a:p>
                  </a:txBody>
                  <a:tcPr marT="38100" marB="38100" marL="114300" marR="114300" anchor="ctr">
                    <a:solidFill>
                      <a:srgbClr val="10141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212733"/>
                          </a:solidFill>
                          <a:latin typeface="맑은 고딕"/>
                        </a:rPr>
                        <a:t>AI-Hub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12733"/>
                          </a:solidFill>
                          <a:latin typeface="맑은 고딕"/>
                        </a:rPr>
                        <a:t>10,921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12733"/>
                          </a:solidFill>
                          <a:latin typeface="맑은 고딕"/>
                        </a:rPr>
                        <a:t>9,412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12733"/>
                          </a:solidFill>
                          <a:latin typeface="맑은 고딕"/>
                        </a:rPr>
                        <a:t>22,886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12733"/>
                          </a:solidFill>
                          <a:latin typeface="맑은 고딕"/>
                        </a:rPr>
                        <a:t>43,219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212733"/>
                          </a:solidFill>
                          <a:latin typeface="맑은 고딕"/>
                        </a:rPr>
                        <a:t>RPLAN</a:t>
                      </a:r>
                    </a:p>
                  </a:txBody>
                  <a:tcPr marT="38100" marB="38100" marL="114300" marR="114300" anchor="ctr"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12733"/>
                          </a:solidFill>
                          <a:latin typeface="맑은 고딕"/>
                        </a:rPr>
                        <a:t>80,371</a:t>
                      </a:r>
                    </a:p>
                  </a:txBody>
                  <a:tcPr marT="38100" marB="38100" marL="114300" marR="114300" anchor="ctr"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12733"/>
                          </a:solidFill>
                          <a:latin typeface="맑은 고딕"/>
                        </a:rPr>
                        <a:t>417</a:t>
                      </a:r>
                    </a:p>
                  </a:txBody>
                  <a:tcPr marT="38100" marB="38100" marL="114300" marR="114300" anchor="ctr"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12733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 marT="38100" marB="38100" marL="114300" marR="114300" anchor="ctr"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12733"/>
                          </a:solidFill>
                          <a:latin typeface="맑은 고딕"/>
                        </a:rPr>
                        <a:t>80,788</a:t>
                      </a:r>
                    </a:p>
                  </a:txBody>
                  <a:tcPr marT="38100" marB="38100" marL="114300" marR="114300" anchor="ctr">
                    <a:solidFill>
                      <a:srgbClr val="FBFAF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212733"/>
                          </a:solidFill>
                          <a:latin typeface="맑은 고딕"/>
                        </a:rPr>
                        <a:t>CubiCasa5k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12733"/>
                          </a:solidFill>
                          <a:latin typeface="맑은 고딕"/>
                        </a:rPr>
                        <a:t>3,028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12733"/>
                          </a:solidFill>
                          <a:latin typeface="맑은 고딕"/>
                        </a:rPr>
                        <a:t>1,964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12733"/>
                          </a:solidFill>
                          <a:latin typeface="맑은 고딕"/>
                        </a:rPr>
                        <a:t>8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12733"/>
                          </a:solidFill>
                          <a:latin typeface="맑은 고딕"/>
                        </a:rPr>
                        <a:t>5,000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212733"/>
                          </a:solidFill>
                          <a:latin typeface="맑은 고딕"/>
                        </a:rPr>
                        <a:t>합계</a:t>
                      </a:r>
                    </a:p>
                  </a:txBody>
                  <a:tcPr marT="38100" marB="38100" marL="114300" marR="114300" anchor="ctr"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12733"/>
                          </a:solidFill>
                          <a:latin typeface="맑은 고딕"/>
                        </a:rPr>
                        <a:t>94,320</a:t>
                      </a:r>
                    </a:p>
                  </a:txBody>
                  <a:tcPr marT="38100" marB="38100" marL="114300" marR="114300" anchor="ctr"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12733"/>
                          </a:solidFill>
                          <a:latin typeface="맑은 고딕"/>
                        </a:rPr>
                        <a:t>11,793</a:t>
                      </a:r>
                    </a:p>
                  </a:txBody>
                  <a:tcPr marT="38100" marB="38100" marL="114300" marR="114300" anchor="ctr"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12733"/>
                          </a:solidFill>
                          <a:latin typeface="맑은 고딕"/>
                        </a:rPr>
                        <a:t>22,894</a:t>
                      </a:r>
                    </a:p>
                  </a:txBody>
                  <a:tcPr marT="38100" marB="38100" marL="114300" marR="114300" anchor="ctr"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12733"/>
                          </a:solidFill>
                          <a:latin typeface="맑은 고딕"/>
                        </a:rPr>
                        <a:t>129,007</a:t>
                      </a:r>
                    </a:p>
                  </a:txBody>
                  <a:tcPr marT="38100" marB="38100" marL="114300" marR="114300" anchor="ctr">
                    <a:solidFill>
                      <a:srgbClr val="FBFAF6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31520" y="48463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1" i="0" spc="100">
                <a:solidFill>
                  <a:srgbClr val="C2A14D"/>
                </a:solidFill>
                <a:latin typeface="맑은 고딕"/>
              </a:rPr>
              <a:t>원칙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C2A14D"/>
                </a:solidFill>
                <a:latin typeface="맑은 고딕"/>
              </a:rPr>
              <a:t>—  </a:t>
            </a:r>
            <a:r>
              <a:rPr sz="1400" b="0" i="0">
                <a:solidFill>
                  <a:srgbClr val="212733"/>
                </a:solidFill>
                <a:latin typeface="맑은 고딕"/>
              </a:rPr>
              <a:t>‘보정필요’ = 버리는 게 아니라 살릴 수 있는 데이터 — 자동 재변환 + 사람 보정으로 사용 승급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C2A14D"/>
                </a:solidFill>
                <a:latin typeface="맑은 고딕"/>
              </a:rPr>
              <a:t>—  </a:t>
            </a:r>
            <a:r>
              <a:rPr sz="1400" b="0" i="0">
                <a:solidFill>
                  <a:srgbClr val="212733"/>
                </a:solidFill>
                <a:latin typeface="맑은 고딕"/>
              </a:rPr>
              <a:t>AI-Hub는 도면 1장 = 여러 세대 → 도면수 ≠ 세대수(세대 = 실제 추출된 그래프 수)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41148" cy="566928"/>
          </a:xfrm>
          <a:prstGeom prst="rect">
            <a:avLst/>
          </a:prstGeom>
          <a:solidFill>
            <a:srgbClr val="C2A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0292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1" i="0" spc="220">
                <a:solidFill>
                  <a:srgbClr val="C2A14D"/>
                </a:solidFill>
                <a:latin typeface="맑은 고딕"/>
              </a:rPr>
              <a:t>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13232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400" b="1" i="0">
                <a:solidFill>
                  <a:srgbClr val="212733"/>
                </a:solidFill>
                <a:latin typeface="맑은 고딕"/>
              </a:rPr>
              <a:t>데이터셋 구축 ③ — AI-Hub 처리 파이프라인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389888"/>
            <a:ext cx="11091672" cy="0"/>
          </a:xfrm>
          <a:prstGeom prst="bentConnector3">
            <a:avLst/>
          </a:prstGeom>
          <a:ln w="12700">
            <a:solidFill>
              <a:srgbClr val="E7E3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bentConnector3">
            <a:avLst/>
          </a:prstGeom>
          <a:ln w="9525">
            <a:solidFill>
              <a:srgbClr val="E7E3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850" b="0" i="0" spc="60">
                <a:solidFill>
                  <a:srgbClr val="8C919C"/>
                </a:solidFill>
                <a:latin typeface="맑은 고딕"/>
              </a:rPr>
              <a:t>plan2graph · 한국형 소버린 평면도 생성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46520"/>
            <a:ext cx="103327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500"/>
              </a:spcAft>
            </a:pPr>
            <a:r>
              <a:rPr sz="850" b="1" i="0">
                <a:solidFill>
                  <a:srgbClr val="C2A14D"/>
                </a:solidFill>
                <a:latin typeface="맑은 고딕"/>
              </a:rPr>
              <a:t>07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737360"/>
            <a:ext cx="1517904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3D8"/>
            </a:solidFill>
          </a:ln>
          <a:effectLst/>
          <a:effectLst>
            <a:outerShdw blurRad="90000" dist="38000" dir="5400000" rotWithShape="0">
              <a:srgbClr val="0B0E14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212733"/>
                </a:solidFill>
                <a:latin typeface="맑은 고딕"/>
              </a:rPr>
              <a:t>원본 PNG</a:t>
            </a:r>
          </a:p>
          <a:p>
            <a:pPr algn="ctr"/>
            <a:r>
              <a:rPr sz="1100" b="0" i="0">
                <a:solidFill>
                  <a:srgbClr val="8C919C"/>
                </a:solidFill>
                <a:latin typeface="맑은 고딕"/>
              </a:rPr>
              <a:t>라벨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737360"/>
            <a:ext cx="1517904" cy="45720"/>
          </a:xfrm>
          <a:prstGeom prst="rect">
            <a:avLst/>
          </a:prstGeom>
          <a:solidFill>
            <a:srgbClr val="C2A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84832" y="1737360"/>
            <a:ext cx="274320" cy="8412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000" b="1" i="0">
                <a:solidFill>
                  <a:srgbClr val="C2A14D"/>
                </a:solidFill>
                <a:latin typeface="맑은 고딕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59152" y="1737360"/>
            <a:ext cx="1517904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3D8"/>
            </a:solidFill>
          </a:ln>
          <a:effectLst/>
          <a:effectLst>
            <a:outerShdw blurRad="90000" dist="38000" dir="5400000" rotWithShape="0">
              <a:srgbClr val="0B0E14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212733"/>
                </a:solidFill>
                <a:latin typeface="맑은 고딕"/>
              </a:rPr>
              <a:t>V2V / YOLO</a:t>
            </a:r>
          </a:p>
          <a:p>
            <a:pPr algn="ctr"/>
            <a:r>
              <a:rPr sz="1100" b="0" i="0">
                <a:solidFill>
                  <a:srgbClr val="8C919C"/>
                </a:solidFill>
                <a:latin typeface="맑은 고딕"/>
              </a:rPr>
              <a:t>검출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359152" y="1737360"/>
            <a:ext cx="1517904" cy="45720"/>
          </a:xfrm>
          <a:prstGeom prst="rect">
            <a:avLst/>
          </a:prstGeom>
          <a:solidFill>
            <a:srgbClr val="C2A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77056" y="1737360"/>
            <a:ext cx="274320" cy="8412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000" b="1" i="0">
                <a:solidFill>
                  <a:srgbClr val="C2A14D"/>
                </a:solidFill>
                <a:latin typeface="맑은 고딕"/>
              </a:rPr>
              <a:t>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51376" y="1737360"/>
            <a:ext cx="1517904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3D8"/>
            </a:solidFill>
          </a:ln>
          <a:effectLst/>
          <a:effectLst>
            <a:outerShdw blurRad="90000" dist="38000" dir="5400000" rotWithShape="0">
              <a:srgbClr val="0B0E14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212733"/>
                </a:solidFill>
                <a:latin typeface="맑은 고딕"/>
              </a:rPr>
              <a:t>SVG 변환</a:t>
            </a:r>
          </a:p>
          <a:p>
            <a:pPr algn="ctr"/>
            <a:r>
              <a:rPr sz="1100" b="0" i="0">
                <a:solidFill>
                  <a:srgbClr val="8C919C"/>
                </a:solidFill>
                <a:latin typeface="맑은 고딕"/>
              </a:rPr>
              <a:t>완전기하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51376" y="1737360"/>
            <a:ext cx="1517904" cy="45720"/>
          </a:xfrm>
          <a:prstGeom prst="rect">
            <a:avLst/>
          </a:prstGeom>
          <a:solidFill>
            <a:srgbClr val="C2A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0" y="1737360"/>
            <a:ext cx="274320" cy="8412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000" b="1" i="0">
                <a:solidFill>
                  <a:srgbClr val="C2A14D"/>
                </a:solidFill>
                <a:latin typeface="맑은 고딕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0" y="1737360"/>
            <a:ext cx="1517904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3D8"/>
            </a:solidFill>
          </a:ln>
          <a:effectLst/>
          <a:effectLst>
            <a:outerShdw blurRad="90000" dist="38000" dir="5400000" rotWithShape="0">
              <a:srgbClr val="0B0E14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212733"/>
                </a:solidFill>
                <a:latin typeface="맑은 고딕"/>
              </a:rPr>
              <a:t>사람 보정</a:t>
            </a:r>
          </a:p>
          <a:p>
            <a:pPr algn="ctr"/>
            <a:r>
              <a:rPr sz="1100" b="0" i="0">
                <a:solidFill>
                  <a:srgbClr val="8C919C"/>
                </a:solidFill>
                <a:latin typeface="맑은 고딕"/>
              </a:rPr>
              <a:t>알바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0" y="1737360"/>
            <a:ext cx="1517904" cy="45720"/>
          </a:xfrm>
          <a:prstGeom prst="rect">
            <a:avLst/>
          </a:prstGeom>
          <a:solidFill>
            <a:srgbClr val="C2A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61504" y="1737360"/>
            <a:ext cx="274320" cy="8412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000" b="1" i="0">
                <a:solidFill>
                  <a:srgbClr val="C2A14D"/>
                </a:solidFill>
                <a:latin typeface="맑은 고딕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35824" y="1737360"/>
            <a:ext cx="1517904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3D8"/>
            </a:solidFill>
          </a:ln>
          <a:effectLst/>
          <a:effectLst>
            <a:outerShdw blurRad="90000" dist="38000" dir="5400000" rotWithShape="0">
              <a:srgbClr val="0B0E14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212733"/>
                </a:solidFill>
                <a:latin typeface="맑은 고딕"/>
              </a:rPr>
              <a:t>build</a:t>
            </a:r>
          </a:p>
          <a:p>
            <a:pPr algn="ctr"/>
            <a:r>
              <a:rPr sz="1100" b="0" i="0">
                <a:solidFill>
                  <a:srgbClr val="8C919C"/>
                </a:solidFill>
                <a:latin typeface="맑은 고딕"/>
              </a:rPr>
              <a:t>통일그래프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35824" y="1737360"/>
            <a:ext cx="1517904" cy="45720"/>
          </a:xfrm>
          <a:prstGeom prst="rect">
            <a:avLst/>
          </a:prstGeom>
          <a:solidFill>
            <a:srgbClr val="C2A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53728" y="1737360"/>
            <a:ext cx="274320" cy="8412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000" b="1" i="0">
                <a:solidFill>
                  <a:srgbClr val="C2A14D"/>
                </a:solidFill>
                <a:latin typeface="맑은 고딕"/>
              </a:rPr>
              <a:t>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28048" y="1737360"/>
            <a:ext cx="1517904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3D8"/>
            </a:solidFill>
          </a:ln>
          <a:effectLst/>
          <a:effectLst>
            <a:outerShdw blurRad="90000" dist="38000" dir="5400000" rotWithShape="0">
              <a:srgbClr val="0B0E14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212733"/>
                </a:solidFill>
                <a:latin typeface="맑은 고딕"/>
              </a:rPr>
              <a:t>검증</a:t>
            </a:r>
          </a:p>
          <a:p>
            <a:pPr algn="ctr"/>
            <a:r>
              <a:rPr sz="1100" b="0" i="0">
                <a:solidFill>
                  <a:srgbClr val="8C919C"/>
                </a:solidFill>
                <a:latin typeface="맑은 고딕"/>
              </a:rPr>
              <a:t>위상·역할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528048" y="1737360"/>
            <a:ext cx="1517904" cy="45720"/>
          </a:xfrm>
          <a:prstGeom prst="rect">
            <a:avLst/>
          </a:prstGeom>
          <a:solidFill>
            <a:srgbClr val="C2A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292608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2A14D"/>
                </a:solidFill>
                <a:latin typeface="맑은 고딕"/>
              </a:rPr>
              <a:t>provenance(추출 출처)로 데이터 특성·신뢰도 구분 — 선언적 필터로 구성 분리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731520" y="3474720"/>
          <a:ext cx="10698480" cy="16824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51760"/>
                <a:gridCol w="5669280"/>
                <a:gridCol w="2377440"/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E6D6A6"/>
                          </a:solidFill>
                          <a:latin typeface="맑은 고딕"/>
                        </a:rPr>
                        <a:t>provenance</a:t>
                      </a:r>
                    </a:p>
                  </a:txBody>
                  <a:tcPr marT="38100" marB="38100" marL="114300" marR="114300" anchor="ctr">
                    <a:solidFill>
                      <a:srgbClr val="1014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E6D6A6"/>
                          </a:solidFill>
                          <a:latin typeface="맑은 고딕"/>
                        </a:rPr>
                        <a:t>의미</a:t>
                      </a:r>
                    </a:p>
                  </a:txBody>
                  <a:tcPr marT="38100" marB="38100" marL="114300" marR="114300" anchor="ctr">
                    <a:solidFill>
                      <a:srgbClr val="1014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E6D6A6"/>
                          </a:solidFill>
                          <a:latin typeface="맑은 고딕"/>
                        </a:rPr>
                        <a:t>처분</a:t>
                      </a:r>
                    </a:p>
                  </a:txBody>
                  <a:tcPr marT="38100" marB="38100" marL="114300" marR="114300" anchor="ctr">
                    <a:solidFill>
                      <a:srgbClr val="10141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212733"/>
                          </a:solidFill>
                          <a:latin typeface="맑은 고딕"/>
                        </a:rPr>
                        <a:t>dual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12733"/>
                          </a:solidFill>
                          <a:latin typeface="맑은 고딕"/>
                        </a:rPr>
                        <a:t>방(SPA)+구조(STR) 둘 다 라벨 — 직접 변환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12733"/>
                          </a:solidFill>
                          <a:latin typeface="맑은 고딕"/>
                        </a:rPr>
                        <a:t>사용 (최고품질)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212733"/>
                          </a:solidFill>
                          <a:latin typeface="맑은 고딕"/>
                        </a:rPr>
                        <a:t>spa_only / str_only</a:t>
                      </a:r>
                    </a:p>
                  </a:txBody>
                  <a:tcPr marT="38100" marB="38100" marL="114300" marR="114300" anchor="ctr"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12733"/>
                          </a:solidFill>
                          <a:latin typeface="맑은 고딕"/>
                        </a:rPr>
                        <a:t>한쪽만 → V2V(YOLO)로 나머지 복구</a:t>
                      </a:r>
                    </a:p>
                  </a:txBody>
                  <a:tcPr marT="38100" marB="38100" marL="114300" marR="114300" anchor="ctr"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12733"/>
                          </a:solidFill>
                          <a:latin typeface="맑은 고딕"/>
                        </a:rPr>
                        <a:t>사용 (복구)</a:t>
                      </a:r>
                    </a:p>
                  </a:txBody>
                  <a:tcPr marT="38100" marB="38100" marL="114300" marR="114300" anchor="ctr">
                    <a:solidFill>
                      <a:srgbClr val="FBFAF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212733"/>
                          </a:solidFill>
                          <a:latin typeface="맑은 고딕"/>
                        </a:rPr>
                        <a:t>objocr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12733"/>
                          </a:solidFill>
                          <a:latin typeface="맑은 고딕"/>
                        </a:rPr>
                        <a:t>OBJ/OCR만(공간 라벨 없음) — 이미지 직접 검출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12733"/>
                          </a:solidFill>
                          <a:latin typeface="맑은 고딕"/>
                        </a:rPr>
                        <a:t>보정필요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TextBox 28"/>
          <p:cNvSpPr txBox="1"/>
          <p:nvPr/>
        </p:nvSpPr>
        <p:spPr>
          <a:xfrm>
            <a:off x="731520" y="5532120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 i="0">
                <a:solidFill>
                  <a:srgbClr val="8C919C"/>
                </a:solidFill>
                <a:latin typeface="맑은 고딕"/>
              </a:rPr>
              <a:t>V2V(vector→vector) YOLO: SPA mAP 0.90+ · 게이트 통과율로 평가 · G-라인 빌드 18,503 도면 / 40,495 세대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41148" cy="566928"/>
          </a:xfrm>
          <a:prstGeom prst="rect">
            <a:avLst/>
          </a:prstGeom>
          <a:solidFill>
            <a:srgbClr val="C2A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0292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1" i="0" spc="220">
                <a:solidFill>
                  <a:srgbClr val="C2A14D"/>
                </a:solidFill>
                <a:latin typeface="맑은 고딕"/>
              </a:rPr>
              <a:t>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13232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400" b="1" i="0">
                <a:solidFill>
                  <a:srgbClr val="212733"/>
                </a:solidFill>
                <a:latin typeface="맑은 고딕"/>
              </a:rPr>
              <a:t>데이터셋 구축 ④ — 품질 게이트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389888"/>
            <a:ext cx="11091672" cy="0"/>
          </a:xfrm>
          <a:prstGeom prst="bentConnector3">
            <a:avLst/>
          </a:prstGeom>
          <a:ln w="12700">
            <a:solidFill>
              <a:srgbClr val="E7E3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bentConnector3">
            <a:avLst/>
          </a:prstGeom>
          <a:ln w="9525">
            <a:solidFill>
              <a:srgbClr val="E7E3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850" b="0" i="0" spc="60">
                <a:solidFill>
                  <a:srgbClr val="8C919C"/>
                </a:solidFill>
                <a:latin typeface="맑은 고딕"/>
              </a:rPr>
              <a:t>plan2graph · 한국형 소버린 평면도 생성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46520"/>
            <a:ext cx="103327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500"/>
              </a:spcAft>
            </a:pPr>
            <a:r>
              <a:rPr sz="850" b="1" i="0">
                <a:solidFill>
                  <a:srgbClr val="C2A14D"/>
                </a:solidFill>
                <a:latin typeface="맑은 고딕"/>
              </a:rPr>
              <a:t>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1" i="0">
                <a:solidFill>
                  <a:srgbClr val="212733"/>
                </a:solidFill>
                <a:latin typeface="맑은 고딕"/>
              </a:rPr>
              <a:t>‘온전한 데이터만 학습’ — 구성 기반 자동 분류기(좌표 불필요, 검수·학습 단일 소스)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240280"/>
            <a:ext cx="525780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3D8"/>
            </a:solidFill>
          </a:ln>
          <a:effectLst/>
          <a:effectLst>
            <a:outerShdw blurRad="90000" dist="38000" dir="5400000" rotWithShape="0">
              <a:srgbClr val="0B0E14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2240280"/>
            <a:ext cx="5257800" cy="45720"/>
          </a:xfrm>
          <a:prstGeom prst="rect">
            <a:avLst/>
          </a:prstGeom>
          <a:solidFill>
            <a:srgbClr val="3F6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2423160"/>
            <a:ext cx="4800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1" i="0" spc="140">
                <a:solidFill>
                  <a:srgbClr val="8C919C"/>
                </a:solidFill>
                <a:latin typeface="맑은 고딕"/>
              </a:rPr>
              <a:t>온전 (사용) · AI-HUB APT 38,203 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" y="2715768"/>
            <a:ext cx="4892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700" b="1" i="0">
                <a:solidFill>
                  <a:srgbClr val="212733"/>
                </a:solidFill>
                <a:latin typeface="맑은 고딕"/>
              </a:rPr>
              <a:t>24,706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3218688"/>
            <a:ext cx="4800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1" i="0">
                <a:solidFill>
                  <a:srgbClr val="3F6F52"/>
                </a:solidFill>
                <a:latin typeface="맑은 고딕"/>
              </a:rPr>
              <a:t>64.7%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9632" y="2240280"/>
            <a:ext cx="525780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3D8"/>
            </a:solidFill>
          </a:ln>
          <a:effectLst/>
          <a:effectLst>
            <a:outerShdw blurRad="90000" dist="38000" dir="5400000" rotWithShape="0">
              <a:srgbClr val="0B0E14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99632" y="2240280"/>
            <a:ext cx="5257800" cy="45720"/>
          </a:xfrm>
          <a:prstGeom prst="rect">
            <a:avLst/>
          </a:prstGeom>
          <a:solidFill>
            <a:srgbClr val="9C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55664" y="2423160"/>
            <a:ext cx="4800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1" i="0" spc="140">
                <a:solidFill>
                  <a:srgbClr val="8C919C"/>
                </a:solidFill>
                <a:latin typeface="맑은 고딕"/>
              </a:rPr>
              <a:t>보정필요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7376" y="2715768"/>
            <a:ext cx="4892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700" b="1" i="0">
                <a:solidFill>
                  <a:srgbClr val="212733"/>
                </a:solidFill>
                <a:latin typeface="맑은 고딕"/>
              </a:rPr>
              <a:t>13,485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5664" y="3218688"/>
            <a:ext cx="4800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1" i="0">
                <a:solidFill>
                  <a:srgbClr val="9C4040"/>
                </a:solidFill>
                <a:latin typeface="맑은 고딕"/>
              </a:rPr>
              <a:t>35.3%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840480"/>
            <a:ext cx="1069848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 i="0" spc="100">
                <a:solidFill>
                  <a:srgbClr val="C2A14D"/>
                </a:solidFill>
                <a:latin typeface="맑은 고딕"/>
              </a:rPr>
              <a:t>보정필요 판정 규칙 · 사유 분포 (실측)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C2A14D"/>
                </a:solidFill>
                <a:latin typeface="맑은 고딕"/>
              </a:rPr>
              <a:t>—  </a:t>
            </a:r>
            <a:r>
              <a:rPr sz="1400" b="0" i="0">
                <a:solidFill>
                  <a:srgbClr val="212733"/>
                </a:solidFill>
                <a:latin typeface="맑은 고딕"/>
              </a:rPr>
              <a:t>현관 ≠ 1 (다세대 병합/누락) — 5,142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C2A14D"/>
                </a:solidFill>
                <a:latin typeface="맑은 고딕"/>
              </a:rPr>
              <a:t>—  </a:t>
            </a:r>
            <a:r>
              <a:rPr sz="1400" b="0" i="0">
                <a:solidFill>
                  <a:srgbClr val="212733"/>
                </a:solidFill>
                <a:latin typeface="맑은 고딕"/>
              </a:rPr>
              <a:t>발코니 과다(&gt;4) — 4,904   ·   거실 ≠ 1 — 4,521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C2A14D"/>
                </a:solidFill>
                <a:latin typeface="맑은 고딕"/>
              </a:rPr>
              <a:t>—  </a:t>
            </a:r>
            <a:r>
              <a:rPr sz="1400" b="0" i="0">
                <a:solidFill>
                  <a:srgbClr val="212733"/>
                </a:solidFill>
                <a:latin typeface="맑은 고딕"/>
              </a:rPr>
              <a:t>침실 &lt; 화장실(면적 모순) — 3,060   ·   거실 오라벨 — 634   ·   기타 과다 — 527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212733"/>
                </a:solidFill>
                <a:latin typeface="맑은 고딕"/>
              </a:rPr>
              <a:t>온전 데이터 방 수: 중앙값 14 · p95 17 → 엔진 방 수용량 18로 결정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41148" cy="566928"/>
          </a:xfrm>
          <a:prstGeom prst="rect">
            <a:avLst/>
          </a:prstGeom>
          <a:solidFill>
            <a:srgbClr val="C2A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0292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1" i="0" spc="220">
                <a:solidFill>
                  <a:srgbClr val="C2A14D"/>
                </a:solidFill>
                <a:latin typeface="맑은 고딕"/>
              </a:rPr>
              <a:t>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13232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400" b="1" i="0">
                <a:solidFill>
                  <a:srgbClr val="212733"/>
                </a:solidFill>
                <a:latin typeface="맑은 고딕"/>
              </a:rPr>
              <a:t>데이터셋 구축 ⑤ — 구성(variant)이 곧 실험 변수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389888"/>
            <a:ext cx="11091672" cy="0"/>
          </a:xfrm>
          <a:prstGeom prst="bentConnector3">
            <a:avLst/>
          </a:prstGeom>
          <a:ln w="12700">
            <a:solidFill>
              <a:srgbClr val="E7E3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bentConnector3">
            <a:avLst/>
          </a:prstGeom>
          <a:ln w="9525">
            <a:solidFill>
              <a:srgbClr val="E7E3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850" b="0" i="0" spc="60">
                <a:solidFill>
                  <a:srgbClr val="8C919C"/>
                </a:solidFill>
                <a:latin typeface="맑은 고딕"/>
              </a:rPr>
              <a:t>plan2graph · 한국형 소버린 평면도 생성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46520"/>
            <a:ext cx="103327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500"/>
              </a:spcAft>
            </a:pPr>
            <a:r>
              <a:rPr sz="850" b="1" i="0">
                <a:solidFill>
                  <a:srgbClr val="C2A14D"/>
                </a:solidFill>
                <a:latin typeface="맑은 고딕"/>
              </a:rPr>
              <a:t>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1" i="0">
                <a:solidFill>
                  <a:srgbClr val="212733"/>
                </a:solidFill>
                <a:latin typeface="맑은 고딕"/>
              </a:rPr>
              <a:t>같은 엔진을 다른 데이터 구성으로 학습 → 다른 모델 → 도면 품질 차이 = 비교의 본체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31520" y="2194560"/>
          <a:ext cx="10698480" cy="252374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51760"/>
                <a:gridCol w="2926080"/>
                <a:gridCol w="2194560"/>
                <a:gridCol w="2926080"/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E6D6A6"/>
                          </a:solidFill>
                          <a:latin typeface="맑은 고딕"/>
                        </a:rPr>
                        <a:t>라인</a:t>
                      </a:r>
                    </a:p>
                  </a:txBody>
                  <a:tcPr marT="38100" marB="38100" marL="114300" marR="114300" anchor="ctr">
                    <a:solidFill>
                      <a:srgbClr val="1014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E6D6A6"/>
                          </a:solidFill>
                          <a:latin typeface="맑은 고딕"/>
                        </a:rPr>
                        <a:t>구성</a:t>
                      </a:r>
                    </a:p>
                  </a:txBody>
                  <a:tcPr marT="38100" marB="38100" marL="114300" marR="114300" anchor="ctr">
                    <a:solidFill>
                      <a:srgbClr val="1014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E6D6A6"/>
                          </a:solidFill>
                          <a:latin typeface="맑은 고딕"/>
                        </a:rPr>
                        <a:t>세대수</a:t>
                      </a:r>
                    </a:p>
                  </a:txBody>
                  <a:tcPr marT="38100" marB="38100" marL="114300" marR="114300" anchor="ctr">
                    <a:solidFill>
                      <a:srgbClr val="1014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E6D6A6"/>
                          </a:solidFill>
                          <a:latin typeface="맑은 고딕"/>
                        </a:rPr>
                        <a:t>보정 종류</a:t>
                      </a:r>
                    </a:p>
                  </a:txBody>
                  <a:tcPr marT="38100" marB="38100" marL="114300" marR="114300" anchor="ctr">
                    <a:solidFill>
                      <a:srgbClr val="10141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212733"/>
                          </a:solidFill>
                          <a:latin typeface="맑은 고딕"/>
                        </a:rPr>
                        <a:t>AI-Hub (T)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12733"/>
                          </a:solidFill>
                          <a:latin typeface="맑은 고딕"/>
                        </a:rPr>
                        <a:t>dual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12733"/>
                          </a:solidFill>
                          <a:latin typeface="맑은 고딕"/>
                        </a:rPr>
                        <a:t>7,465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12733"/>
                          </a:solidFill>
                          <a:latin typeface="맑은 고딕"/>
                        </a:rPr>
                        <a:t>자동(재변환) — T·G 공유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212733"/>
                          </a:solidFill>
                          <a:latin typeface="맑은 고딕"/>
                        </a:rPr>
                        <a:t>AI-Hub (T)</a:t>
                      </a:r>
                    </a:p>
                  </a:txBody>
                  <a:tcPr marT="38100" marB="38100" marL="114300" marR="114300" anchor="ctr"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12733"/>
                          </a:solidFill>
                          <a:latin typeface="맑은 고딕"/>
                        </a:rPr>
                        <a:t>dual + 보정</a:t>
                      </a:r>
                    </a:p>
                  </a:txBody>
                  <a:tcPr marT="38100" marB="38100" marL="114300" marR="114300" anchor="ctr"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12733"/>
                          </a:solidFill>
                          <a:latin typeface="맑은 고딕"/>
                        </a:rPr>
                        <a:t>23,679</a:t>
                      </a:r>
                    </a:p>
                  </a:txBody>
                  <a:tcPr marT="38100" marB="38100" marL="114300" marR="114300" anchor="ctr"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12733"/>
                          </a:solidFill>
                          <a:latin typeface="맑은 고딕"/>
                        </a:rPr>
                        <a:t>자동(재변환)</a:t>
                      </a:r>
                    </a:p>
                  </a:txBody>
                  <a:tcPr marT="38100" marB="38100" marL="114300" marR="114300" anchor="ctr">
                    <a:solidFill>
                      <a:srgbClr val="FBFAF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212733"/>
                          </a:solidFill>
                          <a:latin typeface="맑은 고딕"/>
                        </a:rPr>
                        <a:t>AI-Hub (G)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12733"/>
                          </a:solidFill>
                          <a:latin typeface="맑은 고딕"/>
                        </a:rPr>
                        <a:t>dual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12733"/>
                          </a:solidFill>
                          <a:latin typeface="맑은 고딕"/>
                        </a:rPr>
                        <a:t>8,700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12733"/>
                          </a:solidFill>
                          <a:latin typeface="맑은 고딕"/>
                        </a:rPr>
                        <a:t>자동 + 알바(사람 SVG)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212733"/>
                          </a:solidFill>
                          <a:latin typeface="맑은 고딕"/>
                        </a:rPr>
                        <a:t>AI-Hub (G)</a:t>
                      </a:r>
                    </a:p>
                  </a:txBody>
                  <a:tcPr marT="38100" marB="38100" marL="114300" marR="114300" anchor="ctr"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12733"/>
                          </a:solidFill>
                          <a:latin typeface="맑은 고딕"/>
                        </a:rPr>
                        <a:t>dual + 보정</a:t>
                      </a:r>
                    </a:p>
                  </a:txBody>
                  <a:tcPr marT="38100" marB="38100" marL="114300" marR="114300" anchor="ctr"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12733"/>
                          </a:solidFill>
                          <a:latin typeface="맑은 고딕"/>
                        </a:rPr>
                        <a:t>27,683</a:t>
                      </a:r>
                    </a:p>
                  </a:txBody>
                  <a:tcPr marT="38100" marB="38100" marL="114300" marR="114300" anchor="ctr"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12733"/>
                          </a:solidFill>
                          <a:latin typeface="맑은 고딕"/>
                        </a:rPr>
                        <a:t>자동 + 알바</a:t>
                      </a:r>
                    </a:p>
                  </a:txBody>
                  <a:tcPr marT="38100" marB="38100" marL="114300" marR="114300" anchor="ctr">
                    <a:solidFill>
                      <a:srgbClr val="FBFAF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212733"/>
                          </a:solidFill>
                          <a:latin typeface="맑은 고딕"/>
                        </a:rPr>
                        <a:t>글로벌(사전학습)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12733"/>
                          </a:solidFill>
                          <a:latin typeface="맑은 고딕"/>
                        </a:rPr>
                        <a:t>RPLAN / CubiCasa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12733"/>
                          </a:solidFill>
                          <a:latin typeface="맑은 고딕"/>
                        </a:rPr>
                        <a:t>56,053 / —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12733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31520" y="534924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8C919C"/>
                </a:solidFill>
                <a:latin typeface="맑은 고딕"/>
              </a:rPr>
              <a:t>자동(neuro-symbolic 재변환)은 T·G 공유 · 알바(사람 SVG)는 G에만 추가 · 매트릭스 = 구성 × 기하모델 × 사전학습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41148" cy="566928"/>
          </a:xfrm>
          <a:prstGeom prst="rect">
            <a:avLst/>
          </a:prstGeom>
          <a:solidFill>
            <a:srgbClr val="C2A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0292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1" i="0" spc="220">
                <a:solidFill>
                  <a:srgbClr val="C2A14D"/>
                </a:solidFill>
                <a:latin typeface="맑은 고딕"/>
              </a:rPr>
              <a:t>AI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13232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400" b="1" i="0">
                <a:solidFill>
                  <a:srgbClr val="212733"/>
                </a:solidFill>
                <a:latin typeface="맑은 고딕"/>
              </a:rPr>
              <a:t>AI 모델 ① — 박스 회귀(폐기): 측정으로 사망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389888"/>
            <a:ext cx="11091672" cy="0"/>
          </a:xfrm>
          <a:prstGeom prst="bentConnector3">
            <a:avLst/>
          </a:prstGeom>
          <a:ln w="12700">
            <a:solidFill>
              <a:srgbClr val="E7E3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bentConnector3">
            <a:avLst/>
          </a:prstGeom>
          <a:ln w="9525">
            <a:solidFill>
              <a:srgbClr val="E7E3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850" b="0" i="0" spc="60">
                <a:solidFill>
                  <a:srgbClr val="8C919C"/>
                </a:solidFill>
                <a:latin typeface="맑은 고딕"/>
              </a:rPr>
              <a:t>plan2graph · 한국형 소버린 평면도 생성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46520"/>
            <a:ext cx="103327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500"/>
              </a:spcAft>
            </a:pPr>
            <a:r>
              <a:rPr sz="850" b="1" i="0">
                <a:solidFill>
                  <a:srgbClr val="C2A14D"/>
                </a:solidFill>
                <a:latin typeface="맑은 고딕"/>
              </a:rP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627632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1" i="0">
                <a:solidFill>
                  <a:srgbClr val="212733"/>
                </a:solidFill>
                <a:latin typeface="맑은 고딕"/>
              </a:rPr>
              <a:t>첫 시도: 위상 그래프 → 방별 박스 좌표 회귀(Transformer)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286000"/>
            <a:ext cx="342900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3D8"/>
            </a:solidFill>
          </a:ln>
          <a:effectLst/>
          <a:effectLst>
            <a:outerShdw blurRad="90000" dist="38000" dir="5400000" rotWithShape="0">
              <a:srgbClr val="0B0E14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2286000"/>
            <a:ext cx="3429000" cy="45720"/>
          </a:xfrm>
          <a:prstGeom prst="rect">
            <a:avLst/>
          </a:prstGeom>
          <a:solidFill>
            <a:srgbClr val="9C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2468880"/>
            <a:ext cx="2971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1" i="0" spc="140">
                <a:solidFill>
                  <a:srgbClr val="8C919C"/>
                </a:solidFill>
                <a:latin typeface="맑은 고딕"/>
              </a:rPr>
              <a:t>정답 박스 겹침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" y="2761488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700" b="1" i="0">
                <a:solidFill>
                  <a:srgbClr val="212733"/>
                </a:solidFill>
                <a:latin typeface="맑은 고딕"/>
              </a:rPr>
              <a:t>99%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3264408"/>
            <a:ext cx="2971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1" i="0">
                <a:solidFill>
                  <a:srgbClr val="9C4040"/>
                </a:solidFill>
                <a:latin typeface="맑은 고딕"/>
              </a:rPr>
              <a:t>표현 한계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79976" y="2286000"/>
            <a:ext cx="342900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3D8"/>
            </a:solidFill>
          </a:ln>
          <a:effectLst/>
          <a:effectLst>
            <a:outerShdw blurRad="90000" dist="38000" dir="5400000" rotWithShape="0">
              <a:srgbClr val="0B0E14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79976" y="2286000"/>
            <a:ext cx="3429000" cy="45720"/>
          </a:xfrm>
          <a:prstGeom prst="rect">
            <a:avLst/>
          </a:prstGeom>
          <a:solidFill>
            <a:srgbClr val="9C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36008" y="2468880"/>
            <a:ext cx="2971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1" i="0" spc="140">
                <a:solidFill>
                  <a:srgbClr val="8C919C"/>
                </a:solidFill>
                <a:latin typeface="맑은 고딕"/>
              </a:rPr>
              <a:t>데이터 4.6배·손실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2761488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700" b="1" i="0">
                <a:solidFill>
                  <a:srgbClr val="212733"/>
                </a:solidFill>
                <a:latin typeface="맑은 고딕"/>
              </a:rPr>
              <a:t>효과 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36008" y="3264408"/>
            <a:ext cx="2971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1" i="0">
                <a:solidFill>
                  <a:srgbClr val="9C4040"/>
                </a:solidFill>
                <a:latin typeface="맑은 고딕"/>
              </a:rPr>
              <a:t>동일 붕괴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28431" y="2286000"/>
            <a:ext cx="342900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3D8"/>
            </a:solidFill>
          </a:ln>
          <a:effectLst/>
          <a:effectLst>
            <a:outerShdw blurRad="90000" dist="38000" dir="5400000" rotWithShape="0">
              <a:srgbClr val="0B0E14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28431" y="2286000"/>
            <a:ext cx="3429000" cy="45720"/>
          </a:xfrm>
          <a:prstGeom prst="rect">
            <a:avLst/>
          </a:prstGeom>
          <a:solidFill>
            <a:srgbClr val="9C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84463" y="2468880"/>
            <a:ext cx="2971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1" i="0" spc="140">
                <a:solidFill>
                  <a:srgbClr val="8C919C"/>
                </a:solidFill>
                <a:latin typeface="맑은 고딕"/>
              </a:rPr>
              <a:t>배치 실현율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66175" y="2761488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700" b="1" i="0">
                <a:solidFill>
                  <a:srgbClr val="212733"/>
                </a:solidFill>
                <a:latin typeface="맑은 고딕"/>
              </a:rPr>
              <a:t>62%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84463" y="3264408"/>
            <a:ext cx="2971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1" i="0">
                <a:solidFill>
                  <a:srgbClr val="9C4040"/>
                </a:solidFill>
                <a:latin typeface="맑은 고딕"/>
              </a:rPr>
              <a:t>방↑일수록 33%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3977639"/>
            <a:ext cx="1069848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 i="0" spc="100">
                <a:solidFill>
                  <a:srgbClr val="C2A14D"/>
                </a:solidFill>
                <a:latin typeface="맑은 고딕"/>
              </a:rPr>
              <a:t>왜 죽었나 — 실측 근거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C2A14D"/>
                </a:solidFill>
                <a:latin typeface="맑은 고딕"/>
              </a:rPr>
              <a:t>—  </a:t>
            </a:r>
            <a:r>
              <a:rPr sz="1400" b="0" i="0">
                <a:solidFill>
                  <a:srgbClr val="212733"/>
                </a:solidFill>
                <a:latin typeface="맑은 고딕"/>
              </a:rPr>
              <a:t>정답(ground-truth) 박스부터 99% 겹침 — 모델이 아니라 ‘박스 표현’ 자체의 한계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C2A14D"/>
                </a:solidFill>
                <a:latin typeface="맑은 고딕"/>
              </a:rPr>
              <a:t>—  </a:t>
            </a:r>
            <a:r>
              <a:rPr sz="1400" b="0" i="0">
                <a:solidFill>
                  <a:srgbClr val="212733"/>
                </a:solidFill>
                <a:latin typeface="맑은 고딕"/>
              </a:rPr>
              <a:t>데이터 4.6배 증량·겹침 억제 손실에도 동일하게 박스 붕괴 · 문 증발·화장실 고립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212733"/>
                </a:solidFill>
                <a:latin typeface="맑은 고딕"/>
              </a:rPr>
              <a:t>교훈: 위상/모델 문제가 아니라 ‘기하 실현’이 병목 → 생성형 기하(diffusion)로 전환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41148" cy="566928"/>
          </a:xfrm>
          <a:prstGeom prst="rect">
            <a:avLst/>
          </a:prstGeom>
          <a:solidFill>
            <a:srgbClr val="C2A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0292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1" i="0" spc="220">
                <a:solidFill>
                  <a:srgbClr val="C2A14D"/>
                </a:solidFill>
                <a:latin typeface="맑은 고딕"/>
              </a:rPr>
              <a:t>AI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13232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400" b="1" i="0">
                <a:solidFill>
                  <a:srgbClr val="212733"/>
                </a:solidFill>
                <a:latin typeface="맑은 고딕"/>
              </a:rPr>
              <a:t>AI 모델 ② — 소버린 엔진(SOTA 부품 조립 + 한국형 확장)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389888"/>
            <a:ext cx="11091672" cy="0"/>
          </a:xfrm>
          <a:prstGeom prst="bentConnector3">
            <a:avLst/>
          </a:prstGeom>
          <a:ln w="12700">
            <a:solidFill>
              <a:srgbClr val="E7E3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bentConnector3">
            <a:avLst/>
          </a:prstGeom>
          <a:ln w="9525">
            <a:solidFill>
              <a:srgbClr val="E7E3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850" b="0" i="0" spc="60">
                <a:solidFill>
                  <a:srgbClr val="8C919C"/>
                </a:solidFill>
                <a:latin typeface="맑은 고딕"/>
              </a:rPr>
              <a:t>plan2graph · 한국형 소버린 평면도 생성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46520"/>
            <a:ext cx="103327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500"/>
              </a:spcAft>
            </a:pPr>
            <a:r>
              <a:rPr sz="850" b="1" i="0">
                <a:solidFill>
                  <a:srgbClr val="C2A14D"/>
                </a:solidFill>
                <a:latin typeface="맑은 고딕"/>
              </a:rPr>
              <a:t>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1" i="0">
                <a:solidFill>
                  <a:srgbClr val="212733"/>
                </a:solidFill>
                <a:latin typeface="맑은 고딕"/>
              </a:rPr>
              <a:t>단일 생성 엔진 — SOTA의 ‘기법(부품)’만 인용·조립 + 우리 novelty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31520" y="2194560"/>
          <a:ext cx="10698480" cy="2103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66160"/>
                <a:gridCol w="7132320"/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E6D6A6"/>
                          </a:solidFill>
                          <a:latin typeface="맑은 고딕"/>
                        </a:rPr>
                        <a:t>빌린 부품 (인용 base)</a:t>
                      </a:r>
                    </a:p>
                  </a:txBody>
                  <a:tcPr marT="38100" marB="38100" marL="114300" marR="114300" anchor="ctr">
                    <a:solidFill>
                      <a:srgbClr val="1014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E6D6A6"/>
                          </a:solidFill>
                          <a:latin typeface="맑은 고딕"/>
                        </a:rPr>
                        <a:t>역할</a:t>
                      </a:r>
                    </a:p>
                  </a:txBody>
                  <a:tcPr marT="38100" marB="38100" marL="114300" marR="114300" anchor="ctr">
                    <a:solidFill>
                      <a:srgbClr val="10141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212733"/>
                          </a:solidFill>
                          <a:latin typeface="맑은 고딕"/>
                        </a:rPr>
                        <a:t>DiffPlanner (2025)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12733"/>
                          </a:solidFill>
                          <a:latin typeface="맑은 고딕"/>
                        </a:rPr>
                        <a:t>벡터 직접 diffusion 골격 · 경계조건 (코드 보유·검증)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212733"/>
                          </a:solidFill>
                          <a:latin typeface="맑은 고딕"/>
                        </a:rPr>
                        <a:t>GSDiff (AAAI’25)</a:t>
                      </a:r>
                    </a:p>
                  </a:txBody>
                  <a:tcPr marT="38100" marB="38100" marL="114300" marR="114300" anchor="ctr"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12733"/>
                          </a:solidFill>
                          <a:latin typeface="맑은 고딕"/>
                        </a:rPr>
                        <a:t>정렬 손실 · 자기지도(연결 포인트)</a:t>
                      </a:r>
                    </a:p>
                  </a:txBody>
                  <a:tcPr marT="38100" marB="38100" marL="114300" marR="114300" anchor="ctr">
                    <a:solidFill>
                      <a:srgbClr val="FBFAF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212733"/>
                          </a:solidFill>
                          <a:latin typeface="맑은 고딕"/>
                        </a:rPr>
                        <a:t>HouseDiffusion (CVPR’23)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12733"/>
                          </a:solidFill>
                          <a:latin typeface="맑은 고딕"/>
                        </a:rPr>
                        <a:t>이산 + 연속 디노이즈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212733"/>
                          </a:solidFill>
                          <a:latin typeface="맑은 고딕"/>
                        </a:rPr>
                        <a:t>FMLM (2026)</a:t>
                      </a:r>
                    </a:p>
                  </a:txBody>
                  <a:tcPr marT="38100" marB="38100" marL="114300" marR="114300" anchor="ctr"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12733"/>
                          </a:solidFill>
                          <a:latin typeface="맑은 고딕"/>
                        </a:rPr>
                        <a:t>유효성 제약(markup)</a:t>
                      </a:r>
                    </a:p>
                  </a:txBody>
                  <a:tcPr marT="38100" marB="38100" marL="114300" marR="114300" anchor="ctr">
                    <a:solidFill>
                      <a:srgbClr val="FBFAF6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31520" y="4480560"/>
            <a:ext cx="1069848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1" i="0" spc="100">
                <a:solidFill>
                  <a:srgbClr val="C2A14D"/>
                </a:solidFill>
                <a:latin typeface="맑은 고딕"/>
              </a:rPr>
              <a:t>한국형 확장 — 구현 완료·검증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C2A14D"/>
                </a:solidFill>
                <a:latin typeface="맑은 고딕"/>
              </a:rPr>
              <a:t>—  </a:t>
            </a:r>
            <a:r>
              <a:rPr sz="1400" b="0" i="0">
                <a:solidFill>
                  <a:srgbClr val="212733"/>
                </a:solidFill>
                <a:latin typeface="맑은 고딕"/>
              </a:rPr>
              <a:t>3-stage(node→adjacency→partitioning): num_category 6→13(한국 역할) · max_rooms 8→18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C2A14D"/>
                </a:solidFill>
                <a:latin typeface="맑은 고딕"/>
              </a:rPr>
              <a:t>—  </a:t>
            </a:r>
            <a:r>
              <a:rPr sz="1400" b="0" i="0">
                <a:solidFill>
                  <a:srgbClr val="212733"/>
                </a:solidFill>
                <a:latin typeface="맑은 고딕"/>
              </a:rPr>
              <a:t>RPLAN 사전학습 → 한국 파인튜닝(전이학습) · 학습→샘플→도면+DXF 파이프라인 E2E 검증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41148" cy="566928"/>
          </a:xfrm>
          <a:prstGeom prst="rect">
            <a:avLst/>
          </a:prstGeom>
          <a:solidFill>
            <a:srgbClr val="C2A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0292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1" i="0" spc="220">
                <a:solidFill>
                  <a:srgbClr val="C2A14D"/>
                </a:solidFill>
                <a:latin typeface="맑은 고딕"/>
              </a:rPr>
              <a:t>AI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13232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400" b="1" i="0">
                <a:solidFill>
                  <a:srgbClr val="212733"/>
                </a:solidFill>
                <a:latin typeface="맑은 고딕"/>
              </a:rPr>
              <a:t>AI 모델 ③ — neuro-symbolic 완성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389888"/>
            <a:ext cx="11091672" cy="0"/>
          </a:xfrm>
          <a:prstGeom prst="bentConnector3">
            <a:avLst/>
          </a:prstGeom>
          <a:ln w="12700">
            <a:solidFill>
              <a:srgbClr val="E7E3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bentConnector3">
            <a:avLst/>
          </a:prstGeom>
          <a:ln w="9525">
            <a:solidFill>
              <a:srgbClr val="E7E3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850" b="0" i="0" spc="60">
                <a:solidFill>
                  <a:srgbClr val="8C919C"/>
                </a:solidFill>
                <a:latin typeface="맑은 고딕"/>
              </a:rPr>
              <a:t>plan2graph · 한국형 소버린 평면도 생성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46520"/>
            <a:ext cx="103327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500"/>
              </a:spcAft>
            </a:pPr>
            <a:r>
              <a:rPr sz="850" b="1" i="0">
                <a:solidFill>
                  <a:srgbClr val="C2A14D"/>
                </a:solidFill>
                <a:latin typeface="맑은 고딕"/>
              </a:rPr>
              <a:t>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600200"/>
            <a:ext cx="106984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1" i="0">
                <a:solidFill>
                  <a:srgbClr val="212733"/>
                </a:solidFill>
                <a:latin typeface="맑은 고딕"/>
              </a:rPr>
              <a:t>엔진은 방 레이아웃까지 — 문·창·치수·기구·법규는 ‘있는 데이터로 의미 추론’해 채움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31520" y="2240280"/>
          <a:ext cx="10698480" cy="252374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0"/>
                <a:gridCol w="7589520"/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E6D6A6"/>
                          </a:solidFill>
                          <a:latin typeface="맑은 고딕"/>
                        </a:rPr>
                        <a:t>채울 공백</a:t>
                      </a:r>
                    </a:p>
                  </a:txBody>
                  <a:tcPr marT="38100" marB="38100" marL="114300" marR="114300" anchor="ctr">
                    <a:solidFill>
                      <a:srgbClr val="1014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E6D6A6"/>
                          </a:solidFill>
                          <a:latin typeface="맑은 고딕"/>
                        </a:rPr>
                        <a:t>추론 방법</a:t>
                      </a:r>
                    </a:p>
                  </a:txBody>
                  <a:tcPr marT="38100" marB="38100" marL="114300" marR="114300" anchor="ctr">
                    <a:solidFill>
                      <a:srgbClr val="10141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212733"/>
                          </a:solidFill>
                          <a:latin typeface="맑은 고딕"/>
                        </a:rPr>
                        <a:t>축척(scale)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12733"/>
                          </a:solidFill>
                          <a:latin typeface="맑은 고딕"/>
                        </a:rPr>
                        <a:t>표준 여닫이문 폭 800mm 앵커 → mm/px (절대값은 사람 길이입력 보조)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212733"/>
                          </a:solidFill>
                          <a:latin typeface="맑은 고딕"/>
                        </a:rPr>
                        <a:t>문 방향 / 위치</a:t>
                      </a:r>
                    </a:p>
                  </a:txBody>
                  <a:tcPr marT="38100" marB="38100" marL="114300" marR="114300" anchor="ctr"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12733"/>
                          </a:solidFill>
                          <a:latin typeface="맑은 고딕"/>
                        </a:rPr>
                        <a:t>방 인접 관계에서 유도(맞닿은 경계 중점)</a:t>
                      </a:r>
                    </a:p>
                  </a:txBody>
                  <a:tcPr marT="38100" marB="38100" marL="114300" marR="114300" anchor="ctr">
                    <a:solidFill>
                      <a:srgbClr val="FBFAF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212733"/>
                          </a:solidFill>
                          <a:latin typeface="맑은 고딕"/>
                        </a:rPr>
                        <a:t>창문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12733"/>
                          </a:solidFill>
                          <a:latin typeface="맑은 고딕"/>
                        </a:rPr>
                        <a:t>거주방의 외곽 접한 벽에 배치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212733"/>
                          </a:solidFill>
                          <a:latin typeface="맑은 고딕"/>
                        </a:rPr>
                        <a:t>기구(침대·소파·싱크…)</a:t>
                      </a:r>
                    </a:p>
                  </a:txBody>
                  <a:tcPr marT="38100" marB="38100" marL="114300" marR="114300" anchor="ctr"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12733"/>
                          </a:solidFill>
                          <a:latin typeface="맑은 고딕"/>
                        </a:rPr>
                        <a:t>역할별 규칙 카탈로그(벽에 붙여·문 반대쪽)</a:t>
                      </a:r>
                    </a:p>
                  </a:txBody>
                  <a:tcPr marT="38100" marB="38100" marL="114300" marR="114300" anchor="ctr">
                    <a:solidFill>
                      <a:srgbClr val="FBFAF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212733"/>
                          </a:solidFill>
                          <a:latin typeface="맑은 고딕"/>
                        </a:rPr>
                        <a:t>법규 준수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12733"/>
                          </a:solidFill>
                          <a:latin typeface="맑은 고딕"/>
                        </a:rPr>
                        <a:t>rules_legal: 채광 §17① · 환기 · 피난 · 면적 (국가법령 API)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31520" y="548640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8C919C"/>
                </a:solidFill>
                <a:latin typeface="맑은 고딕"/>
              </a:rPr>
              <a:t>생성 → 검증(rules_legal) → 보정 → 재생성 루프 · 거친 출력은 학습 개선 신호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41148" cy="566928"/>
          </a:xfrm>
          <a:prstGeom prst="rect">
            <a:avLst/>
          </a:prstGeom>
          <a:solidFill>
            <a:srgbClr val="C2A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0292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1" i="0" spc="220">
                <a:solidFill>
                  <a:srgbClr val="C2A14D"/>
                </a:solidFill>
                <a:latin typeface="맑은 고딕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13232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400" b="1" i="0">
                <a:solidFill>
                  <a:srgbClr val="212733"/>
                </a:solidFill>
                <a:latin typeface="맑은 고딕"/>
              </a:rPr>
              <a:t>완전 도면 예시 — neuro-symbolic으로 채운 결과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389888"/>
            <a:ext cx="11091672" cy="0"/>
          </a:xfrm>
          <a:prstGeom prst="bentConnector3">
            <a:avLst/>
          </a:prstGeom>
          <a:ln w="12700">
            <a:solidFill>
              <a:srgbClr val="E7E3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bentConnector3">
            <a:avLst/>
          </a:prstGeom>
          <a:ln w="9525">
            <a:solidFill>
              <a:srgbClr val="E7E3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850" b="0" i="0" spc="60">
                <a:solidFill>
                  <a:srgbClr val="8C919C"/>
                </a:solidFill>
                <a:latin typeface="맑은 고딕"/>
              </a:rPr>
              <a:t>plan2graph · 한국형 소버린 평면도 생성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46520"/>
            <a:ext cx="103327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500"/>
              </a:spcAft>
            </a:pPr>
            <a:r>
              <a:rPr sz="850" b="1" i="0">
                <a:solidFill>
                  <a:srgbClr val="C2A14D"/>
                </a:solidFill>
                <a:latin typeface="맑은 고딕"/>
              </a:rPr>
              <a:t>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54480"/>
            <a:ext cx="7040880" cy="4617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3D8"/>
            </a:solidFill>
          </a:ln>
          <a:effectLst/>
          <a:effectLst>
            <a:outerShdw blurRad="90000" dist="38000" dir="5400000" rotWithShape="0">
              <a:srgbClr val="0B0E14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omplete_draw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664208"/>
            <a:ext cx="5914505" cy="43891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882127" y="1627632"/>
            <a:ext cx="3749039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 spc="80">
                <a:solidFill>
                  <a:srgbClr val="C2A14D"/>
                </a:solidFill>
                <a:latin typeface="맑은 고딕"/>
              </a:rPr>
              <a:t>이 도면 1장에 담긴 것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50" b="1" i="0">
                <a:solidFill>
                  <a:srgbClr val="C2A14D"/>
                </a:solidFill>
                <a:latin typeface="맑은 고딕"/>
              </a:rPr>
              <a:t>—  </a:t>
            </a:r>
            <a:r>
              <a:rPr sz="1350" b="0" i="0">
                <a:solidFill>
                  <a:srgbClr val="212733"/>
                </a:solidFill>
                <a:latin typeface="맑은 고딕"/>
              </a:rPr>
              <a:t>방 + 면적(㎡) · 외벽/내벽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50" b="1" i="0">
                <a:solidFill>
                  <a:srgbClr val="C2A14D"/>
                </a:solidFill>
                <a:latin typeface="맑은 고딕"/>
              </a:rPr>
              <a:t>—  </a:t>
            </a:r>
            <a:r>
              <a:rPr sz="1350" b="0" i="0">
                <a:solidFill>
                  <a:srgbClr val="212733"/>
                </a:solidFill>
                <a:latin typeface="맑은 고딕"/>
              </a:rPr>
              <a:t>가구 — 침대·소파·TV·식탁·싱크/레인지·냉장고·변기·세면·샤워·신발장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50" b="1" i="0">
                <a:solidFill>
                  <a:srgbClr val="C2A14D"/>
                </a:solidFill>
                <a:latin typeface="맑은 고딕"/>
              </a:rPr>
              <a:t>—  </a:t>
            </a:r>
            <a:r>
              <a:rPr sz="1350" b="0" i="0">
                <a:solidFill>
                  <a:srgbClr val="212733"/>
                </a:solidFill>
                <a:latin typeface="맑은 고딕"/>
              </a:rPr>
              <a:t>창(파랑) · 문(빨강) · 치수 12,653 × 9,513 mm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50" b="1" i="0">
                <a:solidFill>
                  <a:srgbClr val="C2A14D"/>
                </a:solidFill>
                <a:latin typeface="맑은 고딕"/>
              </a:rPr>
              <a:t>—  </a:t>
            </a:r>
            <a:r>
              <a:rPr sz="1350" b="0" i="0">
                <a:solidFill>
                  <a:srgbClr val="212733"/>
                </a:solidFill>
                <a:latin typeface="맑은 고딕"/>
              </a:rPr>
              <a:t>척도 — 여닫이문 폭 800mm 앵커 추론(11.9 mm/px)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50" b="1" i="0">
                <a:solidFill>
                  <a:srgbClr val="C2A14D"/>
                </a:solidFill>
                <a:latin typeface="맑은 고딕"/>
              </a:rPr>
              <a:t>—  </a:t>
            </a:r>
            <a:r>
              <a:rPr sz="1350" b="1" i="0">
                <a:solidFill>
                  <a:srgbClr val="3F6F52"/>
                </a:solidFill>
                <a:latin typeface="맑은 고딕"/>
              </a:rPr>
              <a:t>같은 도면 → AutoCAD DXF 동시 출력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82127" y="5257800"/>
            <a:ext cx="3749039" cy="0"/>
          </a:xfrm>
          <a:prstGeom prst="bentConnector3">
            <a:avLst/>
          </a:prstGeom>
          <a:ln w="12700">
            <a:solidFill>
              <a:srgbClr val="E7E3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882127" y="5349240"/>
            <a:ext cx="3749039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 i="1">
                <a:solidFill>
                  <a:srgbClr val="8C919C"/>
                </a:solidFill>
                <a:latin typeface="맑은 고딕"/>
              </a:rPr>
              <a:t>SOTA는 방·벽 레이아웃까지 — 우리는 가구·치수·DXF까지 채운 ‘완전 도면’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41148" cy="566928"/>
          </a:xfrm>
          <a:prstGeom prst="rect">
            <a:avLst/>
          </a:prstGeom>
          <a:solidFill>
            <a:srgbClr val="C2A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0292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1" i="0" spc="220">
                <a:solidFill>
                  <a:srgbClr val="C2A14D"/>
                </a:solidFill>
                <a:latin typeface="맑은 고딕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13232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400" b="1" i="0">
                <a:solidFill>
                  <a:srgbClr val="212733"/>
                </a:solidFill>
                <a:latin typeface="맑은 고딕"/>
              </a:rPr>
              <a:t>성능 · 측정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389888"/>
            <a:ext cx="11091672" cy="0"/>
          </a:xfrm>
          <a:prstGeom prst="bentConnector3">
            <a:avLst/>
          </a:prstGeom>
          <a:ln w="12700">
            <a:solidFill>
              <a:srgbClr val="E7E3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bentConnector3">
            <a:avLst/>
          </a:prstGeom>
          <a:ln w="9525">
            <a:solidFill>
              <a:srgbClr val="E7E3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850" b="0" i="0" spc="60">
                <a:solidFill>
                  <a:srgbClr val="8C919C"/>
                </a:solidFill>
                <a:latin typeface="맑은 고딕"/>
              </a:rPr>
              <a:t>plan2graph · 한국형 소버린 평면도 생성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46520"/>
            <a:ext cx="103327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500"/>
              </a:spcAft>
            </a:pPr>
            <a:r>
              <a:rPr sz="850" b="1" i="0">
                <a:solidFill>
                  <a:srgbClr val="C2A14D"/>
                </a:solidFill>
                <a:latin typeface="맑은 고딕"/>
              </a:rPr>
              <a:t>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1645920"/>
            <a:ext cx="342900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3D8"/>
            </a:solidFill>
          </a:ln>
          <a:effectLst/>
          <a:effectLst>
            <a:outerShdw blurRad="90000" dist="38000" dir="5400000" rotWithShape="0">
              <a:srgbClr val="0B0E14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1645920"/>
            <a:ext cx="3429000" cy="45720"/>
          </a:xfrm>
          <a:prstGeom prst="rect">
            <a:avLst/>
          </a:prstGeom>
          <a:solidFill>
            <a:srgbClr val="3F6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1828800"/>
            <a:ext cx="2971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1" i="0" spc="140">
                <a:solidFill>
                  <a:srgbClr val="8C919C"/>
                </a:solidFill>
                <a:latin typeface="맑은 고딕"/>
              </a:rPr>
              <a:t>DIFFPLANNER RPLAN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2121408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700" b="1" i="0">
                <a:solidFill>
                  <a:srgbClr val="212733"/>
                </a:solidFill>
                <a:latin typeface="맑은 고딕"/>
              </a:rPr>
              <a:t>FID 1.23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2624328"/>
            <a:ext cx="2971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1" i="0">
                <a:solidFill>
                  <a:srgbClr val="3F6F52"/>
                </a:solidFill>
                <a:latin typeface="맑은 고딕"/>
              </a:rPr>
              <a:t>pytorch-fid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9976" y="1645920"/>
            <a:ext cx="342900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3D8"/>
            </a:solidFill>
          </a:ln>
          <a:effectLst/>
          <a:effectLst>
            <a:outerShdw blurRad="90000" dist="38000" dir="5400000" rotWithShape="0">
              <a:srgbClr val="0B0E14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79976" y="1645920"/>
            <a:ext cx="3429000" cy="45720"/>
          </a:xfrm>
          <a:prstGeom prst="rect">
            <a:avLst/>
          </a:prstGeom>
          <a:solidFill>
            <a:srgbClr val="3F6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36008" y="1828800"/>
            <a:ext cx="2971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1" i="0" spc="140">
                <a:solidFill>
                  <a:srgbClr val="8C919C"/>
                </a:solidFill>
                <a:latin typeface="맑은 고딕"/>
              </a:rPr>
              <a:t>CLEAN-FID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2121408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700" b="1" i="0">
                <a:solidFill>
                  <a:srgbClr val="212733"/>
                </a:solidFill>
                <a:latin typeface="맑은 고딕"/>
              </a:rPr>
              <a:t>1.34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36008" y="2624328"/>
            <a:ext cx="2971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1" i="0">
                <a:solidFill>
                  <a:srgbClr val="3F6F52"/>
                </a:solidFill>
                <a:latin typeface="맑은 고딕"/>
              </a:rPr>
              <a:t>동일 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28431" y="1645920"/>
            <a:ext cx="342900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3D8"/>
            </a:solidFill>
          </a:ln>
          <a:effectLst/>
          <a:effectLst>
            <a:outerShdw blurRad="90000" dist="38000" dir="5400000" rotWithShape="0">
              <a:srgbClr val="0B0E14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28431" y="1645920"/>
            <a:ext cx="3429000" cy="45720"/>
          </a:xfrm>
          <a:prstGeom prst="rect">
            <a:avLst/>
          </a:prstGeom>
          <a:solidFill>
            <a:srgbClr val="3B53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84463" y="1828800"/>
            <a:ext cx="2971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1" i="0" spc="140">
                <a:solidFill>
                  <a:srgbClr val="8C919C"/>
                </a:solidFill>
                <a:latin typeface="맑은 고딕"/>
              </a:rPr>
              <a:t>평가셋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66175" y="2121408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700" b="1" i="0">
                <a:solidFill>
                  <a:srgbClr val="212733"/>
                </a:solidFill>
                <a:latin typeface="맑은 고딕"/>
              </a:rPr>
              <a:t>12,002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4463" y="2624328"/>
            <a:ext cx="2971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1" i="0">
                <a:solidFill>
                  <a:srgbClr val="3B537C"/>
                </a:solidFill>
                <a:latin typeface="맑은 고딕"/>
              </a:rPr>
              <a:t>RPLAN test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3291840"/>
            <a:ext cx="106984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 i="0" spc="100">
                <a:solidFill>
                  <a:srgbClr val="C2A14D"/>
                </a:solidFill>
                <a:latin typeface="맑은 고딕"/>
              </a:rPr>
              <a:t>측정으로 확정된 사실 — 흔들지 않는 베이스라인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 i="0">
                <a:solidFill>
                  <a:srgbClr val="C2A14D"/>
                </a:solidFill>
                <a:latin typeface="맑은 고딕"/>
              </a:rPr>
              <a:t>—  </a:t>
            </a:r>
            <a:r>
              <a:rPr sz="1400" b="0" i="0">
                <a:solidFill>
                  <a:srgbClr val="212733"/>
                </a:solidFill>
                <a:latin typeface="맑은 고딕"/>
              </a:rPr>
              <a:t>DiffPlanner 베이스라인 재현·검증: RPLAN FID 1.23(pytorch-fid) / 1.34(clean-fid), 12,002 test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 i="0">
                <a:solidFill>
                  <a:srgbClr val="C2A14D"/>
                </a:solidFill>
                <a:latin typeface="맑은 고딕"/>
              </a:rPr>
              <a:t>—  </a:t>
            </a:r>
            <a:r>
              <a:rPr sz="1400" b="0" i="0">
                <a:solidFill>
                  <a:srgbClr val="212733"/>
                </a:solidFill>
                <a:latin typeface="맑은 고딕"/>
              </a:rPr>
              <a:t>균형 벤치마크(주거형태 매크로): 신경망 0.188 &gt; 규칙기반 0.205 — ‘규칙기반 최강’은 APT 편중 착시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 i="0">
                <a:solidFill>
                  <a:srgbClr val="C2A14D"/>
                </a:solidFill>
                <a:latin typeface="맑은 고딕"/>
              </a:rPr>
              <a:t>—  </a:t>
            </a:r>
            <a:r>
              <a:rPr sz="1400" b="0" i="0">
                <a:solidFill>
                  <a:srgbClr val="212733"/>
                </a:solidFill>
                <a:latin typeface="맑은 고딕"/>
              </a:rPr>
              <a:t>V2V 확장은 생성 학습엔 역효과: adj_L1 0.074→0.104 · 법규 0.94→0.37 (수량 ≠ 품질)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 i="0">
                <a:solidFill>
                  <a:srgbClr val="C2A14D"/>
                </a:solidFill>
                <a:latin typeface="맑은 고딕"/>
              </a:rPr>
              <a:t>—  </a:t>
            </a:r>
            <a:r>
              <a:rPr sz="1400" b="0" i="0">
                <a:solidFill>
                  <a:srgbClr val="212733"/>
                </a:solidFill>
                <a:latin typeface="맑은 고딕"/>
              </a:rPr>
              <a:t>SOTA 4편 전부 벡터 방·벽 레이아웃까지 — 창·가구·치수는 아무도 안 함(최신 FMLM 포함)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 i="0">
                <a:solidFill>
                  <a:srgbClr val="212733"/>
                </a:solidFill>
                <a:latin typeface="맑은 고딕"/>
              </a:rPr>
              <a:t>평가 축 = FID(품질) + 법규준수율(SOTA≈0) + 완성도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41148" cy="566928"/>
          </a:xfrm>
          <a:prstGeom prst="rect">
            <a:avLst/>
          </a:prstGeom>
          <a:solidFill>
            <a:srgbClr val="C2A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0292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1" i="0" spc="220">
                <a:solidFill>
                  <a:srgbClr val="C2A14D"/>
                </a:solidFill>
                <a:latin typeface="맑은 고딕"/>
              </a:rPr>
              <a:t>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13232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400" b="1" i="0">
                <a:solidFill>
                  <a:srgbClr val="212733"/>
                </a:solidFill>
                <a:latin typeface="맑은 고딕"/>
              </a:rPr>
              <a:t>시스템 · 도구 — 재현 가능한 프로그램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389888"/>
            <a:ext cx="11091672" cy="0"/>
          </a:xfrm>
          <a:prstGeom prst="bentConnector3">
            <a:avLst/>
          </a:prstGeom>
          <a:ln w="12700">
            <a:solidFill>
              <a:srgbClr val="E7E3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bentConnector3">
            <a:avLst/>
          </a:prstGeom>
          <a:ln w="9525">
            <a:solidFill>
              <a:srgbClr val="E7E3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850" b="0" i="0" spc="60">
                <a:solidFill>
                  <a:srgbClr val="8C919C"/>
                </a:solidFill>
                <a:latin typeface="맑은 고딕"/>
              </a:rPr>
              <a:t>plan2graph · 한국형 소버린 평면도 생성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46520"/>
            <a:ext cx="103327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500"/>
              </a:spcAft>
            </a:pPr>
            <a:r>
              <a:rPr sz="850" b="1" i="0">
                <a:solidFill>
                  <a:srgbClr val="C2A14D"/>
                </a:solidFill>
                <a:latin typeface="맑은 고딕"/>
              </a:rPr>
              <a:t>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1" i="0">
                <a:solidFill>
                  <a:srgbClr val="212733"/>
                </a:solidFill>
                <a:latin typeface="맑은 고딕"/>
              </a:rPr>
              <a:t>결과물 = ‘내가 돌린 숫자’가 아니라 ‘비교 가능한 프로그램’ (단일 소스 · A/B 한 화면)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31520" y="2240280"/>
          <a:ext cx="10698480" cy="2103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0"/>
                <a:gridCol w="7589520"/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E6D6A6"/>
                          </a:solidFill>
                          <a:latin typeface="맑은 고딕"/>
                        </a:rPr>
                        <a:t>구성요소</a:t>
                      </a:r>
                    </a:p>
                  </a:txBody>
                  <a:tcPr marT="38100" marB="38100" marL="114300" marR="114300" anchor="ctr">
                    <a:solidFill>
                      <a:srgbClr val="1014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E6D6A6"/>
                          </a:solidFill>
                          <a:latin typeface="맑은 고딕"/>
                        </a:rPr>
                        <a:t>내용</a:t>
                      </a:r>
                    </a:p>
                  </a:txBody>
                  <a:tcPr marT="38100" marB="38100" marL="114300" marR="114300" anchor="ctr">
                    <a:solidFill>
                      <a:srgbClr val="10141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212733"/>
                          </a:solidFill>
                          <a:latin typeface="맑은 고딕"/>
                        </a:rPr>
                        <a:t>Streamlit 대시보드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12733"/>
                          </a:solidFill>
                          <a:latin typeface="맑은 고딕"/>
                        </a:rPr>
                        <a:t>검수·회계·데이터구성·학습/재학습 조작·도면생성·법규 DB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212733"/>
                          </a:solidFill>
                          <a:latin typeface="맑은 고딕"/>
                        </a:rPr>
                        <a:t>도면 생성 화면</a:t>
                      </a:r>
                    </a:p>
                  </a:txBody>
                  <a:tcPr marT="38100" marB="38100" marL="114300" marR="114300" anchor="ctr"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12733"/>
                          </a:solidFill>
                          <a:latin typeface="맑은 고딕"/>
                        </a:rPr>
                        <a:t>사전학습 × 파인튜닝(데이터 구성+세대수) → 학습 → 샘플 → 이미지+DXF</a:t>
                      </a:r>
                    </a:p>
                  </a:txBody>
                  <a:tcPr marT="38100" marB="38100" marL="114300" marR="114300" anchor="ctr">
                    <a:solidFill>
                      <a:srgbClr val="FBFAF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212733"/>
                          </a:solidFill>
                          <a:latin typeface="맑은 고딕"/>
                        </a:rPr>
                        <a:t>웹 보정 에디터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12733"/>
                          </a:solidFill>
                          <a:latin typeface="맑은 고딕"/>
                        </a:rPr>
                        <a:t>문 방향 클릭·벽 드래그 즉시반영 — Streamlit 한계 보완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212733"/>
                          </a:solidFill>
                          <a:latin typeface="맑은 고딕"/>
                        </a:rPr>
                        <a:t>cadrender 공용 코어</a:t>
                      </a:r>
                    </a:p>
                  </a:txBody>
                  <a:tcPr marT="38100" marB="38100" marL="114300" marR="114300" anchor="ctr"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12733"/>
                          </a:solidFill>
                          <a:latin typeface="맑은 고딕"/>
                        </a:rPr>
                        <a:t>T·G 공용 렌더 → 이미지(matplotlib) + DXF(ezdxf) + 자기교정</a:t>
                      </a:r>
                    </a:p>
                  </a:txBody>
                  <a:tcPr marT="38100" marB="38100" marL="114300" marR="114300" anchor="ctr">
                    <a:solidFill>
                      <a:srgbClr val="FBFAF6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31520" y="484632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C2A14D"/>
                </a:solidFill>
                <a:latin typeface="맑은 고딕"/>
              </a:rPr>
              <a:t>—  </a:t>
            </a:r>
            <a:r>
              <a:rPr sz="1300" b="0" i="0">
                <a:solidFill>
                  <a:srgbClr val="212733"/>
                </a:solidFill>
                <a:latin typeface="맑은 고딕"/>
              </a:rPr>
              <a:t>인프라: 13/18 아키텍처 패치·검증 · 회계 영속 캐시(27s → 0.05s)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C2A14D"/>
                </a:solidFill>
                <a:latin typeface="맑은 고딕"/>
              </a:rPr>
              <a:t>—  </a:t>
            </a:r>
            <a:r>
              <a:rPr sz="1300" b="0" i="0">
                <a:solidFill>
                  <a:srgbClr val="212733"/>
                </a:solidFill>
                <a:latin typeface="맑은 고딕"/>
              </a:rPr>
              <a:t>하이브리드 프론트: 분석·비교 = Streamlit · 편집(클릭·드래그) = 웹 SVG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41148" cy="566928"/>
          </a:xfrm>
          <a:prstGeom prst="rect">
            <a:avLst/>
          </a:prstGeom>
          <a:solidFill>
            <a:srgbClr val="C2A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0292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1" i="0" spc="220">
                <a:solidFill>
                  <a:srgbClr val="C2A14D"/>
                </a:solidFill>
                <a:latin typeface="맑은 고딕"/>
              </a:rPr>
              <a:t>STATUS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13232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400" b="1" i="0">
                <a:solidFill>
                  <a:srgbClr val="212733"/>
                </a:solidFill>
                <a:latin typeface="맑은 고딕"/>
              </a:rPr>
              <a:t>현재 상태 — 학습 진행 중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389888"/>
            <a:ext cx="11091672" cy="0"/>
          </a:xfrm>
          <a:prstGeom prst="bentConnector3">
            <a:avLst/>
          </a:prstGeom>
          <a:ln w="12700">
            <a:solidFill>
              <a:srgbClr val="E7E3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bentConnector3">
            <a:avLst/>
          </a:prstGeom>
          <a:ln w="9525">
            <a:solidFill>
              <a:srgbClr val="E7E3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850" b="0" i="0" spc="60">
                <a:solidFill>
                  <a:srgbClr val="8C919C"/>
                </a:solidFill>
                <a:latin typeface="맑은 고딕"/>
              </a:rPr>
              <a:t>plan2graph · 한국형 소버린 평면도 생성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46520"/>
            <a:ext cx="103327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500"/>
              </a:spcAft>
            </a:pPr>
            <a:r>
              <a:rPr sz="850" b="1" i="0">
                <a:solidFill>
                  <a:srgbClr val="C2A14D"/>
                </a:solidFill>
                <a:latin typeface="맑은 고딕"/>
              </a:rPr>
              <a:t>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1691640"/>
            <a:ext cx="342900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3D8"/>
            </a:solidFill>
          </a:ln>
          <a:effectLst/>
          <a:effectLst>
            <a:outerShdw blurRad="90000" dist="38000" dir="5400000" rotWithShape="0">
              <a:srgbClr val="0B0E14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1691640"/>
            <a:ext cx="3429000" cy="45720"/>
          </a:xfrm>
          <a:prstGeom prst="rect">
            <a:avLst/>
          </a:prstGeom>
          <a:solidFill>
            <a:srgbClr val="3F6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1874520"/>
            <a:ext cx="2971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1" i="0" spc="140">
                <a:solidFill>
                  <a:srgbClr val="8C919C"/>
                </a:solidFill>
                <a:latin typeface="맑은 고딕"/>
              </a:rPr>
              <a:t>엔진 아키텍처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2167128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700" b="1" i="0">
                <a:solidFill>
                  <a:srgbClr val="212733"/>
                </a:solidFill>
                <a:latin typeface="맑은 고딕"/>
              </a:rPr>
              <a:t>완료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2670048"/>
            <a:ext cx="2971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1" i="0">
                <a:solidFill>
                  <a:srgbClr val="3F6F52"/>
                </a:solidFill>
                <a:latin typeface="맑은 고딕"/>
              </a:rPr>
              <a:t>검증됨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9976" y="1691640"/>
            <a:ext cx="342900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3D8"/>
            </a:solidFill>
          </a:ln>
          <a:effectLst/>
          <a:effectLst>
            <a:outerShdw blurRad="90000" dist="38000" dir="5400000" rotWithShape="0">
              <a:srgbClr val="0B0E14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79976" y="1691640"/>
            <a:ext cx="3429000" cy="45720"/>
          </a:xfrm>
          <a:prstGeom prst="rect">
            <a:avLst/>
          </a:prstGeom>
          <a:solidFill>
            <a:srgbClr val="3F6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36008" y="1874520"/>
            <a:ext cx="2971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1" i="0" spc="140">
                <a:solidFill>
                  <a:srgbClr val="8C919C"/>
                </a:solidFill>
                <a:latin typeface="맑은 고딕"/>
              </a:rPr>
              <a:t>샘플→렌더(+DXF)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2167128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700" b="1" i="0">
                <a:solidFill>
                  <a:srgbClr val="212733"/>
                </a:solidFill>
                <a:latin typeface="맑은 고딕"/>
              </a:rPr>
              <a:t>완료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36008" y="2670048"/>
            <a:ext cx="2971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1" i="0">
                <a:solidFill>
                  <a:srgbClr val="3F6F52"/>
                </a:solidFill>
                <a:latin typeface="맑은 고딕"/>
              </a:rPr>
              <a:t>E2E 검증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28431" y="1691640"/>
            <a:ext cx="342900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3D8"/>
            </a:solidFill>
          </a:ln>
          <a:effectLst/>
          <a:effectLst>
            <a:outerShdw blurRad="90000" dist="38000" dir="5400000" rotWithShape="0">
              <a:srgbClr val="0B0E14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28431" y="1691640"/>
            <a:ext cx="3429000" cy="45720"/>
          </a:xfrm>
          <a:prstGeom prst="rect">
            <a:avLst/>
          </a:prstGeom>
          <a:solidFill>
            <a:srgbClr val="C2A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84463" y="1874520"/>
            <a:ext cx="2971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1" i="0" spc="140">
                <a:solidFill>
                  <a:srgbClr val="8C919C"/>
                </a:solidFill>
                <a:latin typeface="맑은 고딕"/>
              </a:rPr>
              <a:t>엔진 학습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66175" y="2167128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700" b="1" i="0">
                <a:solidFill>
                  <a:srgbClr val="212733"/>
                </a:solidFill>
                <a:latin typeface="맑은 고딕"/>
              </a:rPr>
              <a:t>진행 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4463" y="2670048"/>
            <a:ext cx="2971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1" i="0">
                <a:solidFill>
                  <a:srgbClr val="C2A14D"/>
                </a:solidFill>
                <a:latin typeface="맑은 고딕"/>
              </a:rPr>
              <a:t>RPLAN→한국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3383280"/>
            <a:ext cx="1069848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 i="0" spc="100">
                <a:solidFill>
                  <a:srgbClr val="C2A14D"/>
                </a:solidFill>
                <a:latin typeface="맑은 고딕"/>
              </a:rPr>
              <a:t>진척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C2A14D"/>
                </a:solidFill>
                <a:latin typeface="맑은 고딕"/>
              </a:rPr>
              <a:t>—  </a:t>
            </a:r>
            <a:r>
              <a:rPr sz="1400" b="0" i="0">
                <a:solidFill>
                  <a:srgbClr val="212733"/>
                </a:solidFill>
                <a:latin typeface="맑은 고딕"/>
              </a:rPr>
              <a:t>품질 게이트·통일 그래프·엔진 데이터 변환(온전·13/18)·아키텍처 — 완료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C2A14D"/>
                </a:solidFill>
                <a:latin typeface="맑은 고딕"/>
              </a:rPr>
              <a:t>—  </a:t>
            </a:r>
            <a:r>
              <a:rPr sz="1400" b="0" i="0">
                <a:solidFill>
                  <a:srgbClr val="212733"/>
                </a:solidFill>
                <a:latin typeface="맑은 고딕"/>
              </a:rPr>
              <a:t>3-stage 학습 게이트 통과(한국 데이터, loss 수렴·무오류) · 샘플→렌더 파이프라인 완성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C2A14D"/>
                </a:solidFill>
                <a:latin typeface="맑은 고딕"/>
              </a:rPr>
              <a:t>—  </a:t>
            </a:r>
            <a:r>
              <a:rPr sz="1400" b="0" i="0">
                <a:solidFill>
                  <a:srgbClr val="212733"/>
                </a:solidFill>
                <a:latin typeface="맑은 고딕"/>
              </a:rPr>
              <a:t>현재: RPLAN 사전학습 + 한국 파인튜닝 진행 · 짧은 런으로 첫 도면 선행 확보 중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C2A14D"/>
                </a:solidFill>
                <a:latin typeface="맑은 고딕"/>
              </a:rPr>
              <a:t>—  </a:t>
            </a:r>
            <a:r>
              <a:rPr sz="1400" b="0" i="0">
                <a:solidFill>
                  <a:srgbClr val="212733"/>
                </a:solidFill>
                <a:latin typeface="맑은 고딕"/>
              </a:rPr>
              <a:t>렌더 검증(정답 그래프 기준): 방·문·창·기구·치수·DXF 전부 생성 — 파이프라인 작동 확인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41148" cy="566928"/>
          </a:xfrm>
          <a:prstGeom prst="rect">
            <a:avLst/>
          </a:prstGeom>
          <a:solidFill>
            <a:srgbClr val="C2A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0292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1" i="0" spc="220">
                <a:solidFill>
                  <a:srgbClr val="C2A14D"/>
                </a:solidFill>
                <a:latin typeface="맑은 고딕"/>
              </a:rPr>
              <a:t>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13232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400" b="1" i="0">
                <a:solidFill>
                  <a:srgbClr val="212733"/>
                </a:solidFill>
                <a:latin typeface="맑은 고딕"/>
              </a:rPr>
              <a:t>향후 계획 · 논문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389888"/>
            <a:ext cx="11091672" cy="0"/>
          </a:xfrm>
          <a:prstGeom prst="bentConnector3">
            <a:avLst/>
          </a:prstGeom>
          <a:ln w="12700">
            <a:solidFill>
              <a:srgbClr val="E7E3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bentConnector3">
            <a:avLst/>
          </a:prstGeom>
          <a:ln w="9525">
            <a:solidFill>
              <a:srgbClr val="E7E3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850" b="0" i="0" spc="60">
                <a:solidFill>
                  <a:srgbClr val="8C919C"/>
                </a:solidFill>
                <a:latin typeface="맑은 고딕"/>
              </a:rPr>
              <a:t>plan2graph · 한국형 소버린 평면도 생성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46520"/>
            <a:ext cx="103327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500"/>
              </a:spcAft>
            </a:pPr>
            <a:r>
              <a:rPr sz="850" b="1" i="0">
                <a:solidFill>
                  <a:srgbClr val="C2A14D"/>
                </a:solidFill>
                <a:latin typeface="맑은 고딕"/>
              </a:rPr>
              <a:t>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737360"/>
            <a:ext cx="539496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500" b="1" i="0" spc="100">
                <a:solidFill>
                  <a:srgbClr val="C2A14D"/>
                </a:solidFill>
                <a:latin typeface="맑은 고딕"/>
              </a:rPr>
              <a:t>로드맵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400" b="1" i="0">
                <a:solidFill>
                  <a:srgbClr val="C2A14D"/>
                </a:solidFill>
                <a:latin typeface="맑은 고딕"/>
              </a:rPr>
              <a:t>—  </a:t>
            </a:r>
            <a:r>
              <a:rPr sz="1400" b="0" i="0">
                <a:solidFill>
                  <a:srgbClr val="212733"/>
                </a:solidFill>
                <a:latin typeface="맑은 고딕"/>
              </a:rPr>
              <a:t>학습 완료 → 동결 test 샘플링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400" b="1" i="0">
                <a:solidFill>
                  <a:srgbClr val="C2A14D"/>
                </a:solidFill>
                <a:latin typeface="맑은 고딕"/>
              </a:rPr>
              <a:t>—  </a:t>
            </a:r>
            <a:r>
              <a:rPr sz="1400" b="0" i="0">
                <a:solidFill>
                  <a:srgbClr val="212733"/>
                </a:solidFill>
                <a:latin typeface="맑은 고딕"/>
              </a:rPr>
              <a:t>T ∥ G · 데이터구성 · 사전학습 비교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400" b="1" i="0">
                <a:solidFill>
                  <a:srgbClr val="C2A14D"/>
                </a:solidFill>
                <a:latin typeface="맑은 고딕"/>
              </a:rPr>
              <a:t>—  </a:t>
            </a:r>
            <a:r>
              <a:rPr sz="1400" b="0" i="0">
                <a:solidFill>
                  <a:srgbClr val="212733"/>
                </a:solidFill>
                <a:latin typeface="맑은 고딕"/>
              </a:rPr>
              <a:t>FID · 법규준수율 · 완성도 정량 평가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400" b="1" i="0">
                <a:solidFill>
                  <a:srgbClr val="C2A14D"/>
                </a:solidFill>
                <a:latin typeface="맑은 고딕"/>
              </a:rPr>
              <a:t>—  </a:t>
            </a:r>
            <a:r>
              <a:rPr sz="1400" b="0" i="0">
                <a:solidFill>
                  <a:srgbClr val="212733"/>
                </a:solidFill>
                <a:latin typeface="맑은 고딕"/>
              </a:rPr>
              <a:t>알바 보정 → 더 좋은 그래프 → 재학습(반복 루프)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400" b="1" i="0">
                <a:solidFill>
                  <a:srgbClr val="212733"/>
                </a:solidFill>
                <a:latin typeface="맑은 고딕"/>
              </a:rPr>
              <a:t>성공 기준 = FID 동급 AND 법규·완전 압도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1691640"/>
            <a:ext cx="5285232" cy="4114800"/>
          </a:xfrm>
          <a:prstGeom prst="roundRect">
            <a:avLst/>
          </a:prstGeom>
          <a:solidFill>
            <a:srgbClr val="10141C"/>
          </a:solidFill>
          <a:ln>
            <a:noFill/>
          </a:ln>
          <a:effectLst/>
          <a:effectLst>
            <a:outerShdw blurRad="90000" dist="38000" dir="5400000" rotWithShape="0">
              <a:srgbClr val="0B0E14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691640"/>
            <a:ext cx="5285232" cy="54864"/>
          </a:xfrm>
          <a:prstGeom prst="rect">
            <a:avLst/>
          </a:prstGeom>
          <a:solidFill>
            <a:srgbClr val="C2A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75488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600" b="1" i="0" spc="100">
                <a:solidFill>
                  <a:srgbClr val="E6D6A6"/>
                </a:solidFill>
                <a:latin typeface="맑은 고딕"/>
              </a:rPr>
              <a:t>목표 논문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400" b="1" i="0">
                <a:solidFill>
                  <a:srgbClr val="C2A14D"/>
                </a:solidFill>
                <a:latin typeface="맑은 고딕"/>
              </a:rPr>
              <a:t>—  </a:t>
            </a:r>
            <a:r>
              <a:rPr sz="1400" b="0" i="0">
                <a:solidFill>
                  <a:srgbClr val="FFFFFF"/>
                </a:solidFill>
                <a:latin typeface="맑은 고딕"/>
              </a:rPr>
              <a:t>A · 한국 아파트 데이터셋 · 벤치마크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400" b="1" i="0">
                <a:solidFill>
                  <a:srgbClr val="C2A14D"/>
                </a:solidFill>
                <a:latin typeface="맑은 고딕"/>
              </a:rPr>
              <a:t>—  </a:t>
            </a:r>
            <a:r>
              <a:rPr sz="1400" b="0" i="0">
                <a:solidFill>
                  <a:srgbClr val="FFFFFF"/>
                </a:solidFill>
                <a:latin typeface="맑은 고딕"/>
              </a:rPr>
              <a:t>B · 완전 도면 생성(문·창·기구·치수) 방법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400" b="1" i="0">
                <a:solidFill>
                  <a:srgbClr val="C2A14D"/>
                </a:solidFill>
                <a:latin typeface="맑은 고딕"/>
              </a:rPr>
              <a:t>—  </a:t>
            </a:r>
            <a:r>
              <a:rPr sz="1400" b="0" i="0">
                <a:solidFill>
                  <a:srgbClr val="FFFFFF"/>
                </a:solidFill>
                <a:latin typeface="맑은 고딕"/>
              </a:rPr>
              <a:t>C · 법규-인식 생성 (필드 최초)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400" b="1" i="0">
                <a:solidFill>
                  <a:srgbClr val="C2A14D"/>
                </a:solidFill>
                <a:latin typeface="맑은 고딕"/>
              </a:rPr>
              <a:t>—  </a:t>
            </a:r>
            <a:r>
              <a:rPr sz="1400" b="0" i="0">
                <a:solidFill>
                  <a:srgbClr val="FFFFFF"/>
                </a:solidFill>
                <a:latin typeface="맑은 고딕"/>
              </a:rPr>
              <a:t>D · 자체 소버린 엔진(SOTA 부품 + novelty)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411480"/>
            <a:ext cx="11368735" cy="6035040"/>
          </a:xfrm>
          <a:prstGeom prst="rect">
            <a:avLst/>
          </a:prstGeom>
          <a:noFill/>
          <a:ln w="12700">
            <a:solidFill>
              <a:srgbClr val="C2A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1033271" y="2468880"/>
            <a:ext cx="2011680" cy="0"/>
          </a:xfrm>
          <a:prstGeom prst="bentConnector3">
            <a:avLst/>
          </a:prstGeom>
          <a:ln w="19050">
            <a:solidFill>
              <a:srgbClr val="C2A14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05840" y="2651760"/>
            <a:ext cx="102412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300" b="1" i="0" spc="300">
                <a:solidFill>
                  <a:srgbClr val="C2A14D"/>
                </a:solidFill>
                <a:latin typeface="맑은 고딕"/>
              </a:rPr>
              <a:t>요약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300" b="1" i="0">
                <a:solidFill>
                  <a:srgbClr val="FFFFFF"/>
                </a:solidFill>
                <a:latin typeface="맑은 고딕"/>
              </a:rPr>
              <a:t>한국 데이터 129,007 → 통일 그래프 → 자체 소버린 엔진(13/18) → 완전 도면 + DXF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1" y="4297680"/>
            <a:ext cx="100584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 i="0">
                <a:solidFill>
                  <a:srgbClr val="E6D6A6"/>
                </a:solidFill>
                <a:latin typeface="맑은 고딕"/>
              </a:rPr>
              <a:t>박스 회귀 사망 → diffusion 엔진 전환 · neuro-symbolic으로 SOTA가 안 하는 완전성 확보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 i="0">
                <a:solidFill>
                  <a:srgbClr val="8C919C"/>
                </a:solidFill>
                <a:latin typeface="맑은 고딕"/>
              </a:rPr>
              <a:t>차별성 = 법규-인식 · 완전 도면 · 한국 소버린 — 비교 가능한 프로그램으로 검증 진행 중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