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8735" cy="6035040"/>
          </a:xfrm>
          <a:prstGeom prst="rect">
            <a:avLst/>
          </a:prstGeom>
          <a:noFill/>
          <a:ln w="12700">
            <a:solidFill>
              <a:srgbClr val="C2A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noFill/>
          <a:ln w="9525">
            <a:solidFill>
              <a:srgbClr val="1A2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868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 spc="300">
                <a:solidFill>
                  <a:srgbClr val="C2A14D"/>
                </a:solidFill>
                <a:latin typeface="맑은 고딕"/>
              </a:rPr>
              <a:t>PLAN2GRAPH · 논문 중간 발표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33271" y="2331720"/>
            <a:ext cx="2011680" cy="0"/>
          </a:xfrm>
          <a:prstGeom prst="bentConnector3">
            <a:avLst/>
          </a:prstGeom>
          <a:ln w="1905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05840" y="251460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</a:rPr>
              <a:t>한국형 소버린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E6D6A6"/>
                </a:solidFill>
                <a:latin typeface="맑은 고딕"/>
              </a:rPr>
              <a:t>아파트 평면도 생성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spc="50">
                <a:solidFill>
                  <a:srgbClr val="8C919C"/>
                </a:solidFill>
                <a:latin typeface="맑은 고딕"/>
              </a:rPr>
              <a:t>법규-인식 · 완전 도면(문·창·기구·치수) · 한국 데이터 주권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5806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 spc="100">
                <a:solidFill>
                  <a:srgbClr val="C2A14D"/>
                </a:solidFill>
                <a:latin typeface="맑은 고딕"/>
              </a:rPr>
              <a:t>데이터셋 구축 · 파이프라인 · AI 모델 · 성능        |    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연구 배경 · 목표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212733"/>
                </a:solidFill>
                <a:latin typeface="맑은 고딕"/>
              </a:rPr>
              <a:t>건축가가 실제로 쓸 수 있는 ‘완전한’ 한국 아파트 평면도를 생성하는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8C919C"/>
                </a:solidFill>
                <a:latin typeface="맑은 고딕"/>
              </a:rPr>
              <a:t>기존 SOTA(RPLAN 류)는 벡터 방·벽 레이아웃까지 — 문·창·기구·치수·법규는 다루지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산출물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생성형 도면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화면용 이미지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2971800"/>
            <a:ext cx="3429000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산출물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AutoCAD DXF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작도용 파일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2971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97180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1546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4472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self-correct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3" y="39502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생성→검증→보정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핵심 차별성 — 논문 기여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법규-인식 생성: 한국 건축법규(채광 §17①·환기·피난·면적)를 생성에 강제 — 필드 최초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완전 도면: 레이아웃을 넘어 문·창·기구·치수까지 채운 작도 가능 도면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한국 소버린: 한국 아파트 데이터로 학습한 자체 소유 엔진(외부 모델 단순 호출 아님)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전체 파이프라인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데이터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3개 출처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9152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통일 그래프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g-0.3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9152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51376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위상 모델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방 연결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1376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기하 모델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T / 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35824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neuro-symbolic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보정·법규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35824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78308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28048" y="1783080"/>
            <a:ext cx="151790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렌더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이미지+DXF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8048" y="1783080"/>
            <a:ext cx="1517904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9718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T · G = ‘같은 파이프라인, 기하모델만 다른’ A/B 비교 (ADR-0007)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31520" y="3520440"/>
          <a:ext cx="1069848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937760"/>
                <a:gridCol w="3931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T-라인 (baseline)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G-라인 (소버린)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기하모델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약한 박스 — ‘위상+약한기하=못그림’ 증명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강한 diffusion 엔진 (자체)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추출 그래프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+ 사람(알바) SVG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비교 기준선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본 제품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8C919C"/>
                </a:solidFill>
                <a:latin typeface="맑은 고딕"/>
              </a:rPr>
              <a:t>비교 지표: FID · 법규준수율 · 완성도 — 기하모델 효과를 격리해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핵심 숫자 한눈에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345643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받은 원본 · 3출처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129,007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AI-Hub·RPLAN·CubiCasa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691640"/>
            <a:ext cx="3456432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사용 가능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94,320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처분: 사용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69164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691640"/>
            <a:ext cx="3456432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187452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온전 · AI-HUB APT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16712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24,706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67004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64.7% 품질 게이트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246120"/>
            <a:ext cx="345643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· 역할/방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13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한국형 확장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246120"/>
            <a:ext cx="3456432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DIFFPLANNER RPLAN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68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FID 1.23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베이스라인 검증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3246120"/>
            <a:ext cx="345643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3246120"/>
            <a:ext cx="3456432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29992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통일 그래프 · 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21608"/>
            <a:ext cx="30906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40,495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4224528"/>
            <a:ext cx="29992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세대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5029200"/>
            <a:ext cx="10698480" cy="0"/>
          </a:xfrm>
          <a:prstGeom prst="bentConnector3">
            <a:avLst/>
          </a:prstGeom>
          <a:ln w="1524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데이터 129,007 → 통일 그래프 40,495세대 → 자체 엔진(13역할/18방) → 완전 도면 + DXF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C919C"/>
                </a:solidFill>
                <a:latin typeface="맑은 고딕"/>
              </a:rPr>
              <a:t>박스 회귀 사망(정답 99% 겹침) → diffusion 엔진 전환 · neuro-symbolic으로 완전성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① — 출처 · 규모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3개 공개 데이터셋을 하나의 통일 그래프 규격으로 흡수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011680"/>
                <a:gridCol w="393192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받은 원본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(한국)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43,219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한국 아파트·단독·연립 평면도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소버린 파인튜닝(핵심)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RPLAN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80,788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대규모 벡터 평면도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글로벌 사전학습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CubiCasa5k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5,000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실측 벡터 평면도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글로벌 사전학습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129,007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31520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80060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받은 원본 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129,007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480060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사용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94,320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48006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48006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9834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보정·복구 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52760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11,793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② — 카테고리별 문제 · 변환 (AI-Hub)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AI-Hub 43,219 도면을 추출 출처(provenance)별로 분류 — 각 카테고리의 문제와 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2011680"/>
          <a:ext cx="11064240" cy="3785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005840"/>
                <a:gridCol w="1371600"/>
                <a:gridCol w="64008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카테고리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도면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처분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문제 → 처리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3,576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사용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방(SPA)+구조(STR) 라벨 정상 → SVG 직접 변환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spa_only → V2V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3,292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사용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구조(벽) 라벨 없음 → YOLO V2V로 STR 복구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str_only → V2V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4,053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사용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방 라벨 없음 → YOLO V2V로 SPA 복구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objocr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6,146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보정필요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공간 라벨 전무(기구/문자만) → 2-패스 세대크롭 재검출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spa/str_only 대기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2,046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보정필요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V2V 미적용 → 적용 대기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convert_failed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1,220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보정필요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SVG 변환 실패 → 라벨 합집합 재변환(231 복구)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duplicate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18,231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동일 PNG 다른 키로 중복배포 → CRC32+크기 지문 dedup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nonfp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4,655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평면도 아님 → 비전 분류로 제외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C919C"/>
                </a:solidFill>
                <a:latin typeface="맑은 고딕"/>
              </a:rPr>
              <a:t>합: 사용 10,921 · 보정필요 9,412 · 제외 22,886 = 43,219 (= 다운로드). 세대 = 실제 추출 그래프 수(도면 1장 = 여러 세대)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③ — 추출 방법 (비전 → 그래프)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69164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원본 PNG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라벨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69164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9164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69164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V2V / YOLO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검출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2" y="169164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9784" y="169164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4104" y="169164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SVG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완전기하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4104" y="169164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7496" y="169164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71816" y="169164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build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g-0.3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1816" y="169164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169164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39528" y="169164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통일 그래프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39528" y="169164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017520"/>
            <a:ext cx="10698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추출 핵심 기법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V2V(vector→vector) YOLO 검출 — 방(SPA) mAP 0.90→0.964(5→100 epoch) · 벽(STR)은 약함(용량·해상도 레버)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objocr 2-패스 세대크롭 — ① 전체 시트 SPA로 방 위치 → 세대 군집(union-find)  ② 세대별 크롭 → SPA(768)·STR(1024) 재검출 → 시트좌표 역오프셋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중복 제거 — 동일 PNG를 라벨 종류별 다른 키로 중복배포 → CRC32+크기 지문 dedup (0 충돌 증명, 231 복구)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통일 그래프(g-0.3) — SPA(방)+STR(벽)+OBJ(기구 ~9k) 지문 병합 → 연결공간 복원 · 문 재배정 · 개방연결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1" i="0">
                <a:solidFill>
                  <a:srgbClr val="212733"/>
                </a:solidFill>
                <a:latin typeface="맑은 고딕"/>
              </a:rPr>
              <a:t>산출: G-라인 빌드 18,503 도면 / 40,495 세대 (provenance: dual·spa·str·objocr)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④ — 품질 게이트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72768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‘온전한 데이터만 학습’ — 구성 기반 자동 분류기(좌표 불필요) · AI-Hub APT 38,203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05740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057400"/>
            <a:ext cx="338328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24028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온전 (사용)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532888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24,706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03580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64.7%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434840" y="2057400"/>
          <a:ext cx="7205472" cy="2944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097280"/>
                <a:gridCol w="4096512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보정필요 사유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건수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현관 ≠ 1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5,142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도면 1장에 다세대 병합 — 세대 분할 필요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발코니 과다(&gt;4)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4,904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확장발코니 옛 벽선이 방으로 오검출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거실 ≠ 1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4,521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거실 누락 또는 중복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침실 &lt; 화장실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3,060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면적 모순 — 검출/라벨 오류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거실 오라벨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거실이 최대 거주공간 아님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기타 과다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527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fragment·노이즈 누적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31520" y="3703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03320"/>
            <a:ext cx="338328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88620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보정필요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178808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13,485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6817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35.3%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12733"/>
                </a:solidFill>
                <a:latin typeface="맑은 고딕"/>
              </a:rPr>
              <a:t>온전 데이터 방 수: 중앙값 14 · p95 17 → 엔진 방 수용량을 18로 결정 (RPLAN 8 한도는 한국 부적합)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데이터셋 구축 ⑤ — 구성(variant)이 곧 실험 변수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같은 엔진을 다른 데이터 구성으로 학습 → 다른 모델 → 도면 품질 차이 = 비교의 본체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194560"/>
          <a:ext cx="10698480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926080"/>
                <a:gridCol w="219456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라인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세대수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보정 종류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(T)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7,465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자동(재변환) — T·G 공유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(T)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 +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23,679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자동(재변환)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(G)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8,700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+ 알바(사람 SVG)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AI-Hub (G)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dual + 보정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27,683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자동 + 알바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글로벌(사전학습)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RPLAN / CubiCasa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56,053 / 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C919C"/>
                </a:solidFill>
                <a:latin typeface="맑은 고딕"/>
              </a:rPr>
              <a:t>자동(neuro-symbolic 재변환)은 T·G 공유 · 알바(사람 SVG)는 G에만 추가 · 매트릭스 = 구성 × 기하모델 × 사전학습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① — 박스 회귀(폐기): 측정으로 사망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첫 시도: 위상 그래프 → 방별 박스 좌표 회귀(Transformer)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정답 박스 겹침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표현 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9976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데이터 4.6배·손실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효과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동일 붕괴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22860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286000"/>
            <a:ext cx="3429000" cy="45720"/>
          </a:xfrm>
          <a:prstGeom prst="rect">
            <a:avLst/>
          </a:prstGeom>
          <a:solidFill>
            <a:srgbClr val="9C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246888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배치 실현율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276148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62%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3" y="326440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9C4040"/>
                </a:solidFill>
                <a:latin typeface="맑은 고딕"/>
              </a:rPr>
              <a:t>방↑일수록 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977639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왜 죽었나 — 실측 근거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정답(ground-truth) 박스부터 99% 겹침 — 모델이 아니라 ‘박스 표현’ 자체의 한계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데이터 4.6배 증량·겹침 억제 손실에도 동일하게 박스 붕괴 · 문 증발·화장실 고립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교훈: 위상/모델 문제가 아니라 ‘기하 실현’이 병목 → 생성형 기하(diffusion)로 전환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 ·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② — 엔진: 논문 4편에서 무엇을 빌렸나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단일 생성 엔진 — SOTA의 ‘기법(부품)’만 인용·조립, contribution은 한국형·완전성·법규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79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749039"/>
                <a:gridCol w="40233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논문 (인용 base)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빌린 기법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엔진에서의 역할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DiffPlanner (2025)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벡터 직접 diffusion · 경계조건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골격 — 코드 보유·검증 (FID 1.23)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GSDiff (AAAI’25)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정렬 손실 · 자기지도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벽·코너 정렬 품질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HouseDiffusion (CVPR’23)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이산 + 연속 디노이즈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방 표현 디노이즈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FMLM (2026)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markup 유효성 제약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출력 유효성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8C919C"/>
                </a:solidFill>
                <a:latin typeface="맑은 고딕"/>
              </a:rPr>
              <a:t>빌린 골격은 인용 base — 논문 contribution이 아님. 우리 기여 = 한국 소버린 층 · 완전 도면 · 법규-인식 생성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② — 한국형 아키텍처 변경 (DiffPlanner → 우리)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3-stage(node→adjacency→partitioning) 골격 유지 · 영향 레이어만 한국 규격으로 확장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828800"/>
                <a:gridCol w="1737360"/>
                <a:gridCol w="50292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DiffPlanner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우리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E6D6A6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역할 카테고리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한국 13역할(거실·침실·주방·욕실·발코니·드레스룸·복도·전실·실외기실 등)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최대 방 수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18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RPLAN 8 한도는 한국 부적합 (온전 p95 = 17)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인접 생성 타깃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8×8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18×18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방 수 확장과 연동 (in/out 채널)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212733"/>
                          </a:solidFill>
                          <a:latin typeface="맑은 고딕"/>
                        </a:rPr>
                        <a:t>조건 임베딩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Linear(6),(8)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Linear(13),(18)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12733"/>
                          </a:solidFill>
                          <a:latin typeface="맑은 고딕"/>
                        </a:rPr>
                        <a:t>category · number 차원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C919C"/>
                </a:solidFill>
                <a:latin typeface="맑은 고딕"/>
              </a:rPr>
              <a:t>카테고리 스칼라 인코드 (cat+1)/3−1 → /(13/2)−1 · 디코드 ×6 → ×13 동기화 · 3 stage 모델 차원 검증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학습 방법 — 사전학습 → 파인튜닝 (전이학습)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73736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통일그래프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g-0.3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73736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73736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엔진 변환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canvas-256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2" y="173736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9784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4104" y="173736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RPLAN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사전학습 150k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4104" y="173736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7496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71816" y="173736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한국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파인튜닝 40k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71816" y="173736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1737360"/>
            <a:ext cx="274320" cy="8412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 i="0">
                <a:solidFill>
                  <a:srgbClr val="C2A14D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39528" y="1737360"/>
            <a:ext cx="199339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212733"/>
                </a:solidFill>
                <a:latin typeface="맑은 고딕"/>
              </a:rPr>
              <a:t>샘플→도면</a:t>
            </a:r>
          </a:p>
          <a:p>
            <a:pPr algn="ctr"/>
            <a:r>
              <a:rPr sz="1100" b="0" i="0">
                <a:solidFill>
                  <a:srgbClr val="8C919C"/>
                </a:solidFill>
                <a:latin typeface="맑은 고딕"/>
              </a:rPr>
              <a:t>+DXF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39528" y="1737360"/>
            <a:ext cx="1993392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10896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학습 구성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입력 변환 — korean_to_engine: 통일그래프(g-0.3) → 엔진 record(canvas-256 정수, 13역할/18방, 온전 게이트)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3 stage 레시피 — node(cond "") · adjacency("ncsl") · partitioning("ncsla") · batch 512 · lr 1e-4 → 5e-5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비교 매트릭스 — ARM-A(RPLAN 사전학습 → 한국 파인튜닝) vs ARM-B(한국만) × 데이터 구성(dual / dual+보정)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1" i="0">
                <a:solidFill>
                  <a:srgbClr val="212733"/>
                </a:solidFill>
                <a:latin typeface="맑은 고딕"/>
              </a:rPr>
              <a:t>평가 — 동결 test에서 FID + 법규준수율 + 완성도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AI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AI 모델 ③ — neuro-symbolic 완성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엔진은 방 레이아웃까지 — 문·창·치수·기구·법규는 ‘있는 데이터로 의미 추론’해 채움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80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5895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채울 공백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추론 방법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축척(scale)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표준 여닫이문 폭 800mm 앵커 → mm/px (절대값은 사람 길이입력 보조)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문 방향 / 위치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방 인접 관계에서 유도(맞닿은 경계 중점)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창문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거주방의 외곽 접한 벽에 배치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기구(침대·소파·싱크…)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역할별 규칙 카탈로그(벽에 붙여·문 반대쪽)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법규 준수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rules_legal: 채광 §17① · 환기 · 피난 · 면적 (국가법령 API)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8C919C"/>
                </a:solidFill>
                <a:latin typeface="맑은 고딕"/>
              </a:rPr>
              <a:t>생성 → 검증(rules_legal) → 보정 → 재생성 루프 · 거친 출력은 학습 개선 신호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완전 도면 예시 — neuro-symbolic으로 채운 결과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704088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plete_dra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664208"/>
            <a:ext cx="591450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82127" y="1627632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 spc="80">
                <a:solidFill>
                  <a:srgbClr val="C2A14D"/>
                </a:solidFill>
                <a:latin typeface="맑은 고딕"/>
              </a:rPr>
              <a:t>이 도면 1장에 담긴 것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방 + 면적(㎡) · 외벽/내벽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가구 — 침대·소파·TV·식탁·싱크/레인지·냉장고·변기·세면·샤워·신발장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창(파랑) · 문(빨강) · 치수 12,653 × 9,513 mm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0" i="0">
                <a:solidFill>
                  <a:srgbClr val="212733"/>
                </a:solidFill>
                <a:latin typeface="맑은 고딕"/>
              </a:rPr>
              <a:t>척도 — 여닫이문 폭 800mm 앵커 추론(11.9 mm/px)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50" b="1" i="0">
                <a:solidFill>
                  <a:srgbClr val="3F6F52"/>
                </a:solidFill>
                <a:latin typeface="맑은 고딕"/>
              </a:rPr>
              <a:t>같은 도면 → AutoCAD DXF 동시 출력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7" y="5257800"/>
            <a:ext cx="3749039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882127" y="5349240"/>
            <a:ext cx="374903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1">
                <a:solidFill>
                  <a:srgbClr val="8C919C"/>
                </a:solidFill>
                <a:latin typeface="맑은 고딕"/>
              </a:rPr>
              <a:t>SOTA는 방·벽 레이아웃까지 — 우리는 가구·치수·DXF까지 채운 ‘완전 도면’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성능 · 측정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DIFFPLANNER RPLAN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FID 1.23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pytorch-fid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CLEAN-FID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동일 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164592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645920"/>
            <a:ext cx="3429000" cy="45720"/>
          </a:xfrm>
          <a:prstGeom prst="rect">
            <a:avLst/>
          </a:prstGeom>
          <a:solidFill>
            <a:srgbClr val="3B5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82880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평가셋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12140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12,002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62432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B537C"/>
                </a:solidFill>
                <a:latin typeface="맑은 고딕"/>
              </a:rPr>
              <a:t>RPLAN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9184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측정으로 확정된 사실 — 흔들지 않는 베이스라인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DiffPlanner 베이스라인 재현·검증: RPLAN FID 1.23(pytorch-fid) / 1.34(clean-fid), 12,002 test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균형 벤치마크(주거형태 매크로): 신경망 0.188 &gt; 규칙기반 0.205 — ‘규칙기반 최강’은 APT 편중 착시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V2V 확장은 생성 학습엔 역효과: adj_L1 0.074→0.104 · 법규 0.94→0.37 (수량 ≠ 품질)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SOTA 4편 전부 벡터 방·벽 레이아웃까지 — 창·가구·치수는 아무도 안 함(최신 FMLM 포함)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평가 축 = FID(품질) + 법규준수율(SOTA≈0) + 완성도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시스템 · 도구 — 재현 가능한 프로그램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12733"/>
                </a:solidFill>
                <a:latin typeface="맑은 고딕"/>
              </a:rPr>
              <a:t>결과물 = ‘내가 돌린 숫자’가 아니라 ‘비교 가능한 프로그램’ (단일 소스 · A/B 한 화면)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2240280"/>
          <a:ext cx="1069848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5895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구성요소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E6D6A6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38100" marB="38100" marL="114300" marR="114300" anchor="ctr">
                    <a:solidFill>
                      <a:srgbClr val="1014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Streamlit 대시보드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검수·회계·데이터구성·학습/재학습 조작·도면생성·법규 DB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도면 생성 화면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사전학습 × 파인튜닝(데이터 구성+세대수) → 학습 → 샘플 → 이미지+DXF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웹 보정 에디터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문 방향 클릭·벽 드래그 즉시반영 — Streamlit 한계 보완</a:t>
                      </a:r>
                    </a:p>
                  </a:txBody>
                  <a:tcPr marT="38100" marB="38100" marL="114300" marR="1143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12733"/>
                          </a:solidFill>
                          <a:latin typeface="맑은 고딕"/>
                        </a:rPr>
                        <a:t>cadrender 공용 코어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12733"/>
                          </a:solidFill>
                          <a:latin typeface="맑은 고딕"/>
                        </a:rPr>
                        <a:t>T·G 공용 렌더 → 이미지(matplotlib) + DXF(ezdxf) + 자기교정</a:t>
                      </a:r>
                    </a:p>
                  </a:txBody>
                  <a:tcPr marT="38100" marB="38100" marL="114300" marR="114300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48463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00" b="0" i="0">
                <a:solidFill>
                  <a:srgbClr val="212733"/>
                </a:solidFill>
                <a:latin typeface="맑은 고딕"/>
              </a:rPr>
              <a:t>인프라: 13/18 아키텍처 패치·검증 · 회계 영속 캐시(27s → 0.05s)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300" b="0" i="0">
                <a:solidFill>
                  <a:srgbClr val="212733"/>
                </a:solidFill>
                <a:latin typeface="맑은 고딕"/>
              </a:rPr>
              <a:t>하이브리드 프론트: 분석·비교 = Streamlit · 편집(클릭·드래그) = 웹 SVG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현재 상태 — 학습 진행 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검증됨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91640"/>
            <a:ext cx="3429000" cy="45720"/>
          </a:xfrm>
          <a:prstGeom prst="rect">
            <a:avLst/>
          </a:prstGeom>
          <a:solidFill>
            <a:srgbClr val="3F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샘플→렌더(+DXF)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3F6F52"/>
                </a:solidFill>
                <a:latin typeface="맑은 고딕"/>
              </a:rPr>
              <a:t>E2E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8431" y="169164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8"/>
            </a:solidFill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28431" y="1691640"/>
            <a:ext cx="3429000" cy="45720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87452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 spc="140">
                <a:solidFill>
                  <a:srgbClr val="8C919C"/>
                </a:solidFill>
                <a:latin typeface="맑은 고딕"/>
              </a:rPr>
              <a:t>엔진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167128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212733"/>
                </a:solidFill>
                <a:latin typeface="맑은 고딕"/>
              </a:rPr>
              <a:t>진행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670048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C2A14D"/>
                </a:solidFill>
                <a:latin typeface="맑은 고딕"/>
              </a:rPr>
              <a:t>RPLAN→한국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3832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spc="100">
                <a:solidFill>
                  <a:srgbClr val="C2A14D"/>
                </a:solidFill>
                <a:latin typeface="맑은 고딕"/>
              </a:rPr>
              <a:t>진척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품질 게이트·통일 그래프·엔진 데이터 변환(온전·13/18)·아키텍처 — 완료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3-stage 학습 게이트 통과(한국 데이터, loss 수렴·무오류) · 샘플→렌더 파이프라인 완성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현재: RPLAN 사전학습 + 한국 파인튜닝 진행 · 짧은 런으로 첫 도면 선행 확보 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렌더 검증(정답 그래프 기준): 방·문·창·기구·치수·DXF 전부 생성 — 파이프라인 작동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41148" cy="566928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02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 spc="220">
                <a:solidFill>
                  <a:srgbClr val="C2A14D"/>
                </a:solidFill>
                <a:latin typeface="맑은 고딕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212733"/>
                </a:solidFill>
                <a:latin typeface="맑은 고딕"/>
              </a:rPr>
              <a:t>향후 계획 · 논문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89888"/>
            <a:ext cx="11091672" cy="0"/>
          </a:xfrm>
          <a:prstGeom prst="bentConnector3">
            <a:avLst/>
          </a:prstGeom>
          <a:ln w="12700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bentConnector3">
            <a:avLst/>
          </a:prstGeom>
          <a:ln w="9525">
            <a:solidFill>
              <a:srgbClr val="E7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50" b="0" i="0" spc="60">
                <a:solidFill>
                  <a:srgbClr val="8C919C"/>
                </a:solidFill>
                <a:latin typeface="맑은 고딕"/>
              </a:rPr>
              <a:t>plan2graph · 한국형 소버린 평면도 생성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3327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850" b="1" i="0">
                <a:solidFill>
                  <a:srgbClr val="C2A14D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3949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 spc="100">
                <a:solidFill>
                  <a:srgbClr val="C2A14D"/>
                </a:solidFill>
                <a:latin typeface="맑은 고딕"/>
              </a:rPr>
              <a:t>로드맵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학습 완료 → 동결 test 샘플링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T ∥ G · 데이터구성 · 사전학습 비교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FID · 법규준수율 · 완성도 정량 평가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212733"/>
                </a:solidFill>
                <a:latin typeface="맑은 고딕"/>
              </a:rPr>
              <a:t>알바 보정 → 더 좋은 그래프 → 재학습(반복 루프)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 i="0">
                <a:solidFill>
                  <a:srgbClr val="212733"/>
                </a:solidFill>
                <a:latin typeface="맑은 고딕"/>
              </a:rPr>
              <a:t>성공 기준 = FID 동급 AND 법규·완전 압도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91640"/>
            <a:ext cx="5285232" cy="4114800"/>
          </a:xfrm>
          <a:prstGeom prst="roundRect">
            <a:avLst/>
          </a:prstGeom>
          <a:solidFill>
            <a:srgbClr val="10141C"/>
          </a:solidFill>
          <a:ln>
            <a:noFill/>
          </a:ln>
          <a:effectLst/>
          <a:effectLst>
            <a:outerShdw blurRad="90000" dist="38000" dir="5400000" rotWithShape="0">
              <a:srgbClr val="0B0E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691640"/>
            <a:ext cx="5285232" cy="54864"/>
          </a:xfrm>
          <a:prstGeom prst="rect">
            <a:avLst/>
          </a:prstGeom>
          <a:solidFill>
            <a:srgbClr val="C2A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 spc="100">
                <a:solidFill>
                  <a:srgbClr val="E6D6A6"/>
                </a:solidFill>
                <a:latin typeface="맑은 고딕"/>
              </a:rPr>
              <a:t>목표 논문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A · 한국 아파트 데이터셋 · 벤치마크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B · 완전 도면 생성(문·창·기구·치수) 방법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C · 법규-인식 생성 (필드 최초)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C2A14D"/>
                </a:solidFill>
                <a:latin typeface="맑은 고딕"/>
              </a:rPr>
              <a:t>—  </a:t>
            </a:r>
            <a:r>
              <a:rPr sz="1400" b="0" i="0">
                <a:solidFill>
                  <a:srgbClr val="FFFFFF"/>
                </a:solidFill>
                <a:latin typeface="맑은 고딕"/>
              </a:rPr>
              <a:t>D · 자체 소버린 엔진(SOTA 부품 + novelty)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11368735" cy="6035040"/>
          </a:xfrm>
          <a:prstGeom prst="rect">
            <a:avLst/>
          </a:prstGeom>
          <a:noFill/>
          <a:ln w="12700">
            <a:solidFill>
              <a:srgbClr val="C2A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33271" y="2468880"/>
            <a:ext cx="2011680" cy="0"/>
          </a:xfrm>
          <a:prstGeom prst="bentConnector3">
            <a:avLst/>
          </a:prstGeom>
          <a:ln w="19050">
            <a:solidFill>
              <a:srgbClr val="C2A1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5840" y="2651760"/>
            <a:ext cx="10241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 i="0" spc="300">
                <a:solidFill>
                  <a:srgbClr val="C2A14D"/>
                </a:solidFill>
                <a:latin typeface="맑은 고딕"/>
              </a:rPr>
              <a:t>요약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300" b="1" i="0">
                <a:solidFill>
                  <a:srgbClr val="FFFFFF"/>
                </a:solidFill>
                <a:latin typeface="맑은 고딕"/>
              </a:rPr>
              <a:t>한국 데이터 129,007 → 통일 그래프 → 자체 소버린 엔진(13/18) → 완전 도면 + DXF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429768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E6D6A6"/>
                </a:solidFill>
                <a:latin typeface="맑은 고딕"/>
              </a:rPr>
              <a:t>박스 회귀 사망 → diffusion 엔진 전환 · neuro-symbolic으로 SOTA가 안 하는 완전성 확보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8C919C"/>
                </a:solidFill>
                <a:latin typeface="맑은 고딕"/>
              </a:rPr>
              <a:t>차별성 = 법규-인식 · 완전 도면 · 한국 소버린 — 비교 가능한 프로그램으로 검증 진행 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